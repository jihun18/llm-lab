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title>
      <c:tx>
        <c:rich>
          <a:bodyPr/>
          <a:lstStyle/>
          <a:p>
            <a:r>
              <a:rPr sz="1500" b="1">
                <a:solidFill>
                  <a:srgbClr val="10231C"/>
                </a:solidFill>
              </a:rPr>
              <a:t>평균 생성속도 (token/s)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token/s</c:v>
          </c:tx>
          <c:spPr>
            <a:solidFill>
              <a:srgbClr val="62E0B0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00" b="1">
                    <a:solidFill>
                      <a:srgbClr val="10231C"/>
                    </a:solidFill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qwen3:0.6b</c:v>
              </c:pt>
              <c:pt idx="1">
                <c:v>qwen3:1.7b</c:v>
              </c:pt>
            </c:strLit>
          </c:cat>
          <c:val>
            <c:numLit>
              <c:formatCode>General</c:formatCode>
              <c:ptCount val="2"/>
              <c:pt idx="0">
                <c:v>24.45</c:v>
              </c:pt>
              <c:pt idx="1">
                <c:v>10.28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747-47BD-B389-1011A951FB7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EAF2EF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07069"/>
                </a:solidFill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B9C7C1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10231C"/>
                </a:solidFill>
              </a:defRPr>
            </a:pPr>
            <a:endParaRPr lang="ko-KR"/>
          </a:p>
        </c:txPr>
        <c:crossAx val="48650112"/>
        <c:crosses val="autoZero"/>
        <c:crossBetween val="between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이번 발표는 고성능 GPU 없이도 로컬 LLM을 실행하고 웹 앱, RAG, 검증, 공개 릴리스까지 이어간 과정을 공유합니다.</a:t>
            </a:r>
          </a:p>
          <a:p>
            <a:endParaRPr/>
          </a:p>
          <a:p>
            <a:r>
              <a:t>[Sources]</a:t>
            </a:r>
          </a:p>
          <a:p>
            <a:r>
              <a:t>- User-provided screenshot: assets/fastapi-grounded.png</a:t>
            </a:r>
          </a:p>
          <a:p>
            <a:r>
              <a:t>- README.md</a:t>
            </a:r>
          </a:p>
          <a:p>
            <a:r>
              <a:t>- https://github.com/jihun18/LLM-lab/releases/tag/v0.1.0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프로젝트의 핵심 제약은 저사양 PC입니다. 그래서 성능보다 먼저 설치 복잡도, 메모리, 데이터 보호를 기준으로 설계했습니다.</a:t>
            </a:r>
          </a:p>
          <a:p>
            <a:endParaRPr/>
          </a:p>
          <a:p>
            <a:r>
              <a:t>[Sources]</a:t>
            </a:r>
          </a:p>
          <a:p>
            <a:r>
              <a:t>- README.md#목표-환경</a:t>
            </a:r>
          </a:p>
          <a:p>
            <a:r>
              <a:t>- docs/PROJECT-OVERVIEW.md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VS Code는 편집과 터미널의 중심, Python은 로직과 자동화, Ollama는 모델 서버, Obsidian과 GitHub는 지식 축적과 공개를 담당합니다.</a:t>
            </a:r>
          </a:p>
          <a:p>
            <a:endParaRPr/>
          </a:p>
          <a:p>
            <a:r>
              <a:t>[Sources]</a:t>
            </a:r>
          </a:p>
          <a:p>
            <a:r>
              <a:t>- README.md#빠른-시작</a:t>
            </a:r>
          </a:p>
          <a:p>
            <a:r>
              <a:t>- docs/SETUP-WINDOWS.md</a:t>
            </a:r>
          </a:p>
          <a:p>
            <a:r>
              <a:t>- docs/DECISIONS.md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첫 단계에서는 작은 모델 실행만 확인했고, 이후 웹 프레임워크 비교와 RAG 검증을 추가한 뒤 문서와 릴리스까지 완주했습니다.</a:t>
            </a:r>
          </a:p>
          <a:p>
            <a:endParaRPr/>
          </a:p>
          <a:p>
            <a:r>
              <a:t>[Sources]</a:t>
            </a:r>
          </a:p>
          <a:p>
            <a:r>
              <a:t>- wiki/11-v0.1.0-Milestone.md</a:t>
            </a:r>
          </a:p>
          <a:p>
            <a:r>
              <a:t>- CHANGELOG.md</a:t>
            </a:r>
          </a:p>
          <a:p>
            <a:r>
              <a:t>- docs/PROJECT-STATUS.md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같은 Ollama 코어를 공유하도록 세 프레임워크를 구현했습니다. 비교 결과, API 중심 확장에는 FastAPI가 가장 적합했습니다.</a:t>
            </a:r>
          </a:p>
          <a:p>
            <a:endParaRPr/>
          </a:p>
          <a:p>
            <a:r>
              <a:t>[Sources]</a:t>
            </a:r>
          </a:p>
          <a:p>
            <a:r>
              <a:t>- User-provided screenshots: assets/fastapi-grounded.png, assets/flask.png, assets/streamlit.png</a:t>
            </a:r>
          </a:p>
          <a:p>
            <a:r>
              <a:t>- docs/EXPERIMENT-RESULTS.md</a:t>
            </a:r>
          </a:p>
          <a:p>
            <a:r>
              <a:t>- wiki/02-Framework-Comparison.md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사용자의 질문은 FastAPI를 중심으로 Wiki 검색과 Ollama 호출을 거칩니다. 모델 출력은 그대로 믿지 않고 근거 검증 하니스를 통과시킵니다.</a:t>
            </a:r>
          </a:p>
          <a:p>
            <a:endParaRPr/>
          </a:p>
          <a:p>
            <a:r>
              <a:t>[Sources]</a:t>
            </a:r>
          </a:p>
          <a:p>
            <a:r>
              <a:t>- docs/ARCHITECTURE.md</a:t>
            </a:r>
          </a:p>
          <a:p>
            <a:r>
              <a:t>- docs/API.md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문서를 업로드하면 로컬 Wiki에 안전한 이름으로 저장하고 즉시 재색인합니다. 답변에는 출처와 구조화 값 검증 상태가 함께 표시됩니다.</a:t>
            </a:r>
          </a:p>
          <a:p>
            <a:endParaRPr/>
          </a:p>
          <a:p>
            <a:r>
              <a:t>[Sources]</a:t>
            </a:r>
          </a:p>
          <a:p>
            <a:r>
              <a:t>- User-provided screenshot: assets/upload-verified.png</a:t>
            </a:r>
          </a:p>
          <a:p>
            <a:r>
              <a:t>- docs/ARCHITECTURE.md#문서-처리</a:t>
            </a:r>
          </a:p>
          <a:p>
            <a:r>
              <a:t>- wiki/09-Document-Upload.md</a:t>
            </a:r>
          </a:p>
          <a:p>
            <a:r>
              <a:t>- wiki/10-Claim-Verification.md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0.6B는 두 배 이상 빠르지만 사실 오류가 더 자주 보였습니다. 따라서 개발 반복과 사용자 데모의 모델 역할을 분리했습니다.</a:t>
            </a:r>
          </a:p>
          <a:p>
            <a:endParaRPr/>
          </a:p>
          <a:p>
            <a:r>
              <a:t>[Sources]</a:t>
            </a:r>
          </a:p>
          <a:p>
            <a:r>
              <a:t>- README.md#실험-결과-요약</a:t>
            </a:r>
          </a:p>
          <a:p>
            <a:r>
              <a:t>- docs/EXPERIMENT-RESULTS.md</a:t>
            </a:r>
          </a:p>
          <a:p>
            <a:r>
              <a:t>- wiki/06-Benchmark-Results-2026-08-14.md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이번 단계의 결과는 동작 화면만이 아닙니다. 자동 테스트, 문서 체계, 개인정보 제외 규칙, 태그와 릴리스까지 함께 남겼습니다.</a:t>
            </a:r>
          </a:p>
          <a:p>
            <a:endParaRPr/>
          </a:p>
          <a:p>
            <a:r>
              <a:t>[Sources]</a:t>
            </a:r>
          </a:p>
          <a:p>
            <a:r>
              <a:t>- docs/PROJECT-STATUS.md</a:t>
            </a:r>
          </a:p>
          <a:p>
            <a:r>
              <a:t>- README.md#문서-안내</a:t>
            </a:r>
          </a:p>
          <a:p>
            <a:r>
              <a:t>- .gitignore</a:t>
            </a:r>
          </a:p>
          <a:p>
            <a:r>
              <a:t>- https://github.com/jihun18/LLM-lab/releases/tag/v0.1.0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다음 단계에서는 기술을 무작정 늘리지 않고, 먼저 공모전 문제와 평가 기준을 찾은 뒤 필요한 기능만 선택해 재구성합니다.</a:t>
            </a:r>
          </a:p>
          <a:p>
            <a:endParaRPr/>
          </a:p>
          <a:p>
            <a:r>
              <a:t>[Sources]</a:t>
            </a:r>
          </a:p>
          <a:p>
            <a:r>
              <a:t>- ROADMAP.md</a:t>
            </a:r>
          </a:p>
          <a:p>
            <a:r>
              <a:t>- docs/PROJECT-STATUS.md#다음-우선순위</a:t>
            </a:r>
          </a:p>
          <a:p>
            <a:r>
              <a:t>- wiki/04-Competition-Ideas.md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C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A9DB1099-1995-4D42-B892-2AF88D6807AC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62E0B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2E0B0"/>
                </a:solidFill>
                <a:latin typeface="Malgun Gothic"/>
                <a:ea typeface="Malgun Gothic"/>
                <a:cs typeface="Malgun Gothic"/>
              </a:rPr>
              <a:t>2차 세미나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B080BD4-EEC1-4998-AB40-B0C4A8B15F20}"/>
              </a:ext>
            </a:extLst>
          </p:cNvPr>
          <p:cNvSpPr>
            <a:spLocks noGrp="1"/>
          </p:cNvSpPr>
          <p:nvPr/>
        </p:nvSpPr>
        <p:spPr>
          <a:xfrm>
            <a:off x="609600" y="1333500"/>
            <a:ext cx="4762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PC에서 경량 LLM</a:t>
            </a:r>
          </a:p>
          <a:p>
            <a:pPr algn="l">
              <a:def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돌리기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C3FF830-4CBF-4338-AF0B-698529CFE64C}"/>
              </a:ext>
            </a:extLst>
          </p:cNvPr>
          <p:cNvSpPr>
            <a:spLocks noGrp="1"/>
          </p:cNvSpPr>
          <p:nvPr/>
        </p:nvSpPr>
        <p:spPr>
          <a:xfrm>
            <a:off x="609600" y="4438650"/>
            <a:ext cx="4762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0">
                <a:solidFill>
                  <a:srgbClr val="B8F2D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B8F2DB"/>
                </a:solidFill>
                <a:latin typeface="Malgun Gothic"/>
                <a:ea typeface="Malgun Gothic"/>
                <a:cs typeface="Malgun Gothic"/>
              </a:rPr>
              <a:t>VS Code와 Python으로 만든</a:t>
            </a:r>
          </a:p>
          <a:p>
            <a:pPr algn="l">
              <a:defRPr sz="1875" b="0">
                <a:solidFill>
                  <a:srgbClr val="B8F2D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B8F2DB"/>
                </a:solidFill>
                <a:latin typeface="Malgun Gothic"/>
                <a:ea typeface="Malgun Gothic"/>
                <a:cs typeface="Malgun Gothic"/>
              </a:rPr>
              <a:t>검증형 로컬 RAG 실험실 ‘privAI’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47B8B8F-39A1-4E95-8D61-CF6092B08D2C}"/>
              </a:ext>
            </a:extLst>
          </p:cNvPr>
          <p:cNvSpPr>
            <a:spLocks noGrp="1"/>
          </p:cNvSpPr>
          <p:nvPr/>
        </p:nvSpPr>
        <p:spPr>
          <a:xfrm>
            <a:off x="5905500" y="533400"/>
            <a:ext cx="5676900" cy="5410200"/>
          </a:xfrm>
          <a:prstGeom prst="roundRect">
            <a:avLst>
              <a:gd name="adj" fmla="val 3873"/>
            </a:avLst>
          </a:prstGeom>
          <a:solidFill>
            <a:srgbClr val="0E2D22"/>
          </a:solidFill>
          <a:ln w="9525">
            <a:solidFill>
              <a:srgbClr val="285345"/>
            </a:solidFill>
            <a:prstDash val="solid"/>
          </a:ln>
        </p:spPr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76950" y="716131"/>
            <a:ext cx="5334000" cy="5044738"/>
          </a:xfrm>
          <a:prstGeom prst="roundRect">
            <a:avLst>
              <a:gd name="adj" fmla="val 3008"/>
            </a:avLst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F6BF559F-7C9C-4D6F-BF4F-3FD6042F4E1E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v0.1.0 · Windows 11 · Ollama · qwen3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AB7339-CD6C-484D-8A97-B8F9E83857DA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62E0B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2E0B0"/>
                </a:solidFill>
                <a:latin typeface="Malgun Gothic"/>
                <a:ea typeface="Malgun Gothic"/>
                <a:cs typeface="Malgun Gothic"/>
              </a:rPr>
              <a:t>github.com/jihun18/LLM-lab</a:t>
            </a:r>
          </a:p>
        </p:txBody>
      </p:sp>
    </p:spTree>
    <p:extLst>
      <p:ext uri="{BB962C8B-B14F-4D97-AF65-F5344CB8AC3E}">
        <p14:creationId xmlns:p14="http://schemas.microsoft.com/office/powerpoint/2010/main" val="1805549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-2-title">
            <a:extLst>
              <a:ext uri="{FF2B5EF4-FFF2-40B4-BE49-F238E27FC236}">
                <a16:creationId xmlns:a16="http://schemas.microsoft.com/office/drawing/2014/main" id="{E9FBDEA7-7352-4419-BBE5-A2CA36BD3A0E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0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고성능 GPU 없이도, 로컬 AI 실험은 가능했다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F97C7F1-ED4D-4EE8-8135-DD1AF27C4AAA}"/>
              </a:ext>
            </a:extLst>
          </p:cNvPr>
          <p:cNvSpPr>
            <a:spLocks noGrp="1"/>
          </p:cNvSpPr>
          <p:nvPr/>
        </p:nvSpPr>
        <p:spPr>
          <a:xfrm>
            <a:off x="11239500" y="457200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1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197A58D-37CF-4E4E-AB61-0D5C3C44EA4F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0E2D2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E2D22"/>
                </a:solidFill>
                <a:latin typeface="Malgun Gothic"/>
                <a:ea typeface="Malgun Gothic"/>
                <a:cs typeface="Malgun Gothic"/>
              </a:rPr>
              <a:t>시작 조건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2DC3516-D321-4D9B-A6E9-6BA4735FED05}"/>
              </a:ext>
            </a:extLst>
          </p:cNvPr>
          <p:cNvSpPr>
            <a:spLocks noGrp="1"/>
          </p:cNvSpPr>
          <p:nvPr/>
        </p:nvSpPr>
        <p:spPr>
          <a:xfrm>
            <a:off x="609600" y="2019300"/>
            <a:ext cx="4095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Intel i3-7100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6C83E2E-08F5-4BAB-9AD9-8EFB38ACC0D6}"/>
              </a:ext>
            </a:extLst>
          </p:cNvPr>
          <p:cNvSpPr>
            <a:spLocks noGrp="1"/>
          </p:cNvSpPr>
          <p:nvPr/>
        </p:nvSpPr>
        <p:spPr>
          <a:xfrm>
            <a:off x="609600" y="2724150"/>
            <a:ext cx="4095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RAM 8GB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67EA53-4DA6-4167-AA44-BE8902C0119D}"/>
              </a:ext>
            </a:extLst>
          </p:cNvPr>
          <p:cNvSpPr>
            <a:spLocks noGrp="1"/>
          </p:cNvSpPr>
          <p:nvPr/>
        </p:nvSpPr>
        <p:spPr>
          <a:xfrm>
            <a:off x="609600" y="3429000"/>
            <a:ext cx="4095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Intel HD 630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3496ED3-4FFB-4F2E-A075-CC0CE6DF3EB9}"/>
              </a:ext>
            </a:extLst>
          </p:cNvPr>
          <p:cNvSpPr>
            <a:spLocks noGrp="1"/>
          </p:cNvSpPr>
          <p:nvPr/>
        </p:nvSpPr>
        <p:spPr>
          <a:xfrm>
            <a:off x="609600" y="4438650"/>
            <a:ext cx="4095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CPU 추론을 전제로</a:t>
            </a:r>
          </a:p>
          <a:p>
            <a:pPr algn="l">
              <a:defRPr sz="18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모델·검색·UI를 가볍게 설계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ADB5E97-0193-431F-9A60-6C6F921F543D}"/>
              </a:ext>
            </a:extLst>
          </p:cNvPr>
          <p:cNvSpPr>
            <a:spLocks noGrp="1"/>
          </p:cNvSpPr>
          <p:nvPr/>
        </p:nvSpPr>
        <p:spPr>
          <a:xfrm>
            <a:off x="5715000" y="1562100"/>
            <a:ext cx="76200" cy="1066800"/>
          </a:xfrm>
          <a:prstGeom prst="rect">
            <a:avLst/>
          </a:prstGeom>
          <a:solidFill>
            <a:srgbClr val="62E0B0"/>
          </a:solidFill>
          <a:ln w="0">
            <a:solidFill>
              <a:srgbClr val="62E0B0"/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D907194-560C-4FB4-BD66-3BF533200199}"/>
              </a:ext>
            </a:extLst>
          </p:cNvPr>
          <p:cNvSpPr>
            <a:spLocks noGrp="1"/>
          </p:cNvSpPr>
          <p:nvPr/>
        </p:nvSpPr>
        <p:spPr>
          <a:xfrm>
            <a:off x="5962650" y="1581150"/>
            <a:ext cx="5181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데이터 보호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3FAEA96-80AF-40B6-BAC5-202A2BADB8FE}"/>
              </a:ext>
            </a:extLst>
          </p:cNvPr>
          <p:cNvSpPr>
            <a:spLocks noGrp="1"/>
          </p:cNvSpPr>
          <p:nvPr/>
        </p:nvSpPr>
        <p:spPr>
          <a:xfrm>
            <a:off x="5962650" y="1924050"/>
            <a:ext cx="5181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질문과 문서가 외부 LLM API로 나가지 않는다.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DEDDC42-E55F-4166-BA71-E60247C89220}"/>
              </a:ext>
            </a:extLst>
          </p:cNvPr>
          <p:cNvSpPr>
            <a:spLocks noGrp="1"/>
          </p:cNvSpPr>
          <p:nvPr/>
        </p:nvSpPr>
        <p:spPr>
          <a:xfrm>
            <a:off x="5715000" y="2952750"/>
            <a:ext cx="76200" cy="1066800"/>
          </a:xfrm>
          <a:prstGeom prst="rect">
            <a:avLst/>
          </a:prstGeom>
          <a:solidFill>
            <a:srgbClr val="62E0B0"/>
          </a:solidFill>
          <a:ln w="0">
            <a:solidFill>
              <a:srgbClr val="62E0B0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0764348-5754-44C2-9939-5A227C979F3B}"/>
              </a:ext>
            </a:extLst>
          </p:cNvPr>
          <p:cNvSpPr>
            <a:spLocks noGrp="1"/>
          </p:cNvSpPr>
          <p:nvPr/>
        </p:nvSpPr>
        <p:spPr>
          <a:xfrm>
            <a:off x="5962650" y="2971800"/>
            <a:ext cx="5181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낮은 진입 비용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F56DBC2-77C4-45E2-A59F-59F229E1766F}"/>
              </a:ext>
            </a:extLst>
          </p:cNvPr>
          <p:cNvSpPr>
            <a:spLocks noGrp="1"/>
          </p:cNvSpPr>
          <p:nvPr/>
        </p:nvSpPr>
        <p:spPr>
          <a:xfrm>
            <a:off x="5962650" y="3314700"/>
            <a:ext cx="5181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무료 로컬 도구와 0.6B·1.7B 모델로 반복 실험한다.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EC8710D-B266-4FF5-A5C4-1A21AFE23294}"/>
              </a:ext>
            </a:extLst>
          </p:cNvPr>
          <p:cNvSpPr>
            <a:spLocks noGrp="1"/>
          </p:cNvSpPr>
          <p:nvPr/>
        </p:nvSpPr>
        <p:spPr>
          <a:xfrm>
            <a:off x="5715000" y="4343400"/>
            <a:ext cx="76200" cy="1066800"/>
          </a:xfrm>
          <a:prstGeom prst="rect">
            <a:avLst/>
          </a:prstGeom>
          <a:solidFill>
            <a:srgbClr val="62E0B0"/>
          </a:solidFill>
          <a:ln w="0">
            <a:solidFill>
              <a:srgbClr val="62E0B0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8489D38-B039-49DE-B352-59D5DFA2FBAD}"/>
              </a:ext>
            </a:extLst>
          </p:cNvPr>
          <p:cNvSpPr>
            <a:spLocks noGrp="1"/>
          </p:cNvSpPr>
          <p:nvPr/>
        </p:nvSpPr>
        <p:spPr>
          <a:xfrm>
            <a:off x="5962650" y="4362450"/>
            <a:ext cx="5181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공모전 확장성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4B31713-1EAF-4E61-A5F9-2D59F1C23389}"/>
              </a:ext>
            </a:extLst>
          </p:cNvPr>
          <p:cNvSpPr>
            <a:spLocks noGrp="1"/>
          </p:cNvSpPr>
          <p:nvPr/>
        </p:nvSpPr>
        <p:spPr>
          <a:xfrm>
            <a:off x="5962650" y="4705350"/>
            <a:ext cx="5181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MVP를 먼저 만들고 주제에 맞춰 기능과 메시지를 바꾼다.</a:t>
            </a:r>
          </a:p>
        </p:txBody>
      </p:sp>
      <p:sp>
        <p:nvSpPr>
          <p:cNvPr id="17" name="직선 연결선 16">
            <a:extLst>
              <a:ext uri="{FF2B5EF4-FFF2-40B4-BE49-F238E27FC236}">
                <a16:creationId xmlns:a16="http://schemas.microsoft.com/office/drawing/2014/main" id="{D9BD71D1-D087-4DCD-B325-5DDBBD6DAE12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7C1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136CFFE-0D0A-424F-B851-58C345CDB2A4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LLM-lab · 2차 세미나</a:t>
            </a:r>
          </a:p>
        </p:txBody>
      </p:sp>
    </p:spTree>
    <p:extLst>
      <p:ext uri="{BB962C8B-B14F-4D97-AF65-F5344CB8AC3E}">
        <p14:creationId xmlns:p14="http://schemas.microsoft.com/office/powerpoint/2010/main" val="1523008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-3-title">
            <a:extLst>
              <a:ext uri="{FF2B5EF4-FFF2-40B4-BE49-F238E27FC236}">
                <a16:creationId xmlns:a16="http://schemas.microsoft.com/office/drawing/2014/main" id="{AFC84AA4-A052-4A77-B65D-011E8C9E00C4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0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도구를 역할별로 나누니 개발 흐름이 단순해졌다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FAA7DDA-19FC-4B6E-9E47-A06B41A888FB}"/>
              </a:ext>
            </a:extLst>
          </p:cNvPr>
          <p:cNvSpPr>
            <a:spLocks noGrp="1"/>
          </p:cNvSpPr>
          <p:nvPr/>
        </p:nvSpPr>
        <p:spPr>
          <a:xfrm>
            <a:off x="11239500" y="457200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1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C713BB40-E020-419B-B9E5-E83A3C7E949D}"/>
              </a:ext>
            </a:extLst>
          </p:cNvPr>
          <p:cNvSpPr>
            <a:spLocks noGrp="1"/>
          </p:cNvSpPr>
          <p:nvPr/>
        </p:nvSpPr>
        <p:spPr>
          <a:xfrm>
            <a:off x="1104900" y="2476500"/>
            <a:ext cx="9677400" cy="0"/>
          </a:xfrm>
          <a:prstGeom prst="line">
            <a:avLst/>
          </a:prstGeom>
          <a:noFill/>
          <a:ln w="19050">
            <a:solidFill>
              <a:srgbClr val="B9C7C1"/>
            </a:solidFill>
            <a:prstDash val="solid"/>
          </a:ln>
        </p:spPr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ED435605-09F3-47FD-A5AA-33183CE7F319}"/>
              </a:ext>
            </a:extLst>
          </p:cNvPr>
          <p:cNvSpPr>
            <a:spLocks noGrp="1"/>
          </p:cNvSpPr>
          <p:nvPr/>
        </p:nvSpPr>
        <p:spPr>
          <a:xfrm>
            <a:off x="1390650" y="2352675"/>
            <a:ext cx="247650" cy="247650"/>
          </a:xfrm>
          <a:prstGeom prst="ellipse">
            <a:avLst/>
          </a:prstGeom>
          <a:solidFill>
            <a:srgbClr val="0E2D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0743DEE-9747-462B-A8D3-5CC954370E43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180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VS Code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5E31CB5-3C48-4253-888E-5AA9D4E2D008}"/>
              </a:ext>
            </a:extLst>
          </p:cNvPr>
          <p:cNvSpPr>
            <a:spLocks noGrp="1"/>
          </p:cNvSpPr>
          <p:nvPr/>
        </p:nvSpPr>
        <p:spPr>
          <a:xfrm>
            <a:off x="685800" y="2990850"/>
            <a:ext cx="18097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코드 편집</a:t>
            </a:r>
          </a:p>
          <a:p>
            <a:pPr algn="ctr">
              <a:def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터미널 실행</a:t>
            </a:r>
          </a:p>
          <a:p>
            <a:pPr algn="ctr">
              <a:def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Git 변경 확인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C3AD4A77-A8EB-4B1D-9E07-415F80769B82}"/>
              </a:ext>
            </a:extLst>
          </p:cNvPr>
          <p:cNvSpPr>
            <a:spLocks noGrp="1"/>
          </p:cNvSpPr>
          <p:nvPr/>
        </p:nvSpPr>
        <p:spPr>
          <a:xfrm>
            <a:off x="3657600" y="2352675"/>
            <a:ext cx="247650" cy="247650"/>
          </a:xfrm>
          <a:prstGeom prst="ellipse">
            <a:avLst/>
          </a:prstGeom>
          <a:solidFill>
            <a:srgbClr val="0E2D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7ED6BDB-C0A0-436E-88DA-A5E9C47D2FDB}"/>
              </a:ext>
            </a:extLst>
          </p:cNvPr>
          <p:cNvSpPr>
            <a:spLocks noGrp="1"/>
          </p:cNvSpPr>
          <p:nvPr/>
        </p:nvSpPr>
        <p:spPr>
          <a:xfrm>
            <a:off x="2952750" y="1619250"/>
            <a:ext cx="180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Python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46EDFB6-DC44-4862-AB96-DDFCDF6C42AF}"/>
              </a:ext>
            </a:extLst>
          </p:cNvPr>
          <p:cNvSpPr>
            <a:spLocks noGrp="1"/>
          </p:cNvSpPr>
          <p:nvPr/>
        </p:nvSpPr>
        <p:spPr>
          <a:xfrm>
            <a:off x="2952750" y="2990850"/>
            <a:ext cx="18097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가상환경</a:t>
            </a:r>
          </a:p>
          <a:p>
            <a:pPr algn="ctr">
              <a:def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백엔드 로직</a:t>
            </a:r>
          </a:p>
          <a:p>
            <a:pPr algn="ctr">
              <a:def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테스트·벤치마크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33EED1D8-3E8E-4A3C-B595-BE28F8C2EE1C}"/>
              </a:ext>
            </a:extLst>
          </p:cNvPr>
          <p:cNvSpPr>
            <a:spLocks noGrp="1"/>
          </p:cNvSpPr>
          <p:nvPr/>
        </p:nvSpPr>
        <p:spPr>
          <a:xfrm>
            <a:off x="5924550" y="2352675"/>
            <a:ext cx="247650" cy="247650"/>
          </a:xfrm>
          <a:prstGeom prst="ellipse">
            <a:avLst/>
          </a:prstGeom>
          <a:solidFill>
            <a:srgbClr val="0E2D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25E688B-97BF-4D80-AD53-798A93B4A0A0}"/>
              </a:ext>
            </a:extLst>
          </p:cNvPr>
          <p:cNvSpPr>
            <a:spLocks noGrp="1"/>
          </p:cNvSpPr>
          <p:nvPr/>
        </p:nvSpPr>
        <p:spPr>
          <a:xfrm>
            <a:off x="5219700" y="1619250"/>
            <a:ext cx="180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웹/API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1927896-6CEF-4459-89AB-2FF1C8DB8CFC}"/>
              </a:ext>
            </a:extLst>
          </p:cNvPr>
          <p:cNvSpPr>
            <a:spLocks noGrp="1"/>
          </p:cNvSpPr>
          <p:nvPr/>
        </p:nvSpPr>
        <p:spPr>
          <a:xfrm>
            <a:off x="5219700" y="2990850"/>
            <a:ext cx="18097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FastAPI 주력</a:t>
            </a:r>
          </a:p>
          <a:p>
            <a:pPr algn="ctr">
              <a:def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Flask 비교</a:t>
            </a:r>
          </a:p>
          <a:p>
            <a:pPr algn="ctr">
              <a:def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Streamlit 실험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E1ACA9BF-D2DD-49B8-BA57-25D260678A31}"/>
              </a:ext>
            </a:extLst>
          </p:cNvPr>
          <p:cNvSpPr>
            <a:spLocks noGrp="1"/>
          </p:cNvSpPr>
          <p:nvPr/>
        </p:nvSpPr>
        <p:spPr>
          <a:xfrm>
            <a:off x="8191500" y="2352675"/>
            <a:ext cx="247650" cy="247650"/>
          </a:xfrm>
          <a:prstGeom prst="ellipse">
            <a:avLst/>
          </a:prstGeom>
          <a:solidFill>
            <a:srgbClr val="62E0B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6A24EF0-6960-4627-B309-9A517BBC5F5F}"/>
              </a:ext>
            </a:extLst>
          </p:cNvPr>
          <p:cNvSpPr>
            <a:spLocks noGrp="1"/>
          </p:cNvSpPr>
          <p:nvPr/>
        </p:nvSpPr>
        <p:spPr>
          <a:xfrm>
            <a:off x="7486650" y="1619250"/>
            <a:ext cx="180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Ollama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8ACE161-9AF2-447E-86AF-E0CD6A8E84DC}"/>
              </a:ext>
            </a:extLst>
          </p:cNvPr>
          <p:cNvSpPr>
            <a:spLocks noGrp="1"/>
          </p:cNvSpPr>
          <p:nvPr/>
        </p:nvSpPr>
        <p:spPr>
          <a:xfrm>
            <a:off x="7486650" y="2990850"/>
            <a:ext cx="18097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qwen3 모델</a:t>
            </a:r>
          </a:p>
          <a:p>
            <a:pPr algn="ctr">
              <a:def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로컬 REST API</a:t>
            </a:r>
          </a:p>
          <a:p>
            <a:pPr algn="ctr">
              <a:def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CPU 추론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D5A07F7F-C3DA-42C3-A798-EF18D71536E5}"/>
              </a:ext>
            </a:extLst>
          </p:cNvPr>
          <p:cNvSpPr>
            <a:spLocks noGrp="1"/>
          </p:cNvSpPr>
          <p:nvPr/>
        </p:nvSpPr>
        <p:spPr>
          <a:xfrm>
            <a:off x="10458450" y="2352675"/>
            <a:ext cx="247650" cy="247650"/>
          </a:xfrm>
          <a:prstGeom prst="ellipse">
            <a:avLst/>
          </a:prstGeom>
          <a:solidFill>
            <a:srgbClr val="0E2D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91DD792-78B1-4934-8A5F-ABDABD53F796}"/>
              </a:ext>
            </a:extLst>
          </p:cNvPr>
          <p:cNvSpPr>
            <a:spLocks noGrp="1"/>
          </p:cNvSpPr>
          <p:nvPr/>
        </p:nvSpPr>
        <p:spPr>
          <a:xfrm>
            <a:off x="9753600" y="1619250"/>
            <a:ext cx="180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기록·공개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20734A0-78C4-4D35-872B-6C168F8E69E7}"/>
              </a:ext>
            </a:extLst>
          </p:cNvPr>
          <p:cNvSpPr>
            <a:spLocks noGrp="1"/>
          </p:cNvSpPr>
          <p:nvPr/>
        </p:nvSpPr>
        <p:spPr>
          <a:xfrm>
            <a:off x="9753600" y="2990850"/>
            <a:ext cx="18097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Obsidian Wiki</a:t>
            </a:r>
          </a:p>
          <a:p>
            <a:pPr algn="ctr">
              <a:def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GitHub 저장소</a:t>
            </a:r>
          </a:p>
          <a:p>
            <a:pPr algn="ctr">
              <a:def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Release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C89D79B-7C63-4C73-B75D-EDE0C174276C}"/>
              </a:ext>
            </a:extLst>
          </p:cNvPr>
          <p:cNvSpPr>
            <a:spLocks noGrp="1"/>
          </p:cNvSpPr>
          <p:nvPr/>
        </p:nvSpPr>
        <p:spPr>
          <a:xfrm>
            <a:off x="876300" y="4991100"/>
            <a:ext cx="171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0E2D2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E2D22"/>
                </a:solidFill>
                <a:latin typeface="Malgun Gothic"/>
                <a:ea typeface="Malgun Gothic"/>
                <a:cs typeface="Malgun Gothic"/>
              </a:rPr>
              <a:t>편집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78CAB40-D915-443F-9A00-DBF09AEFBD22}"/>
              </a:ext>
            </a:extLst>
          </p:cNvPr>
          <p:cNvSpPr>
            <a:spLocks noGrp="1"/>
          </p:cNvSpPr>
          <p:nvPr/>
        </p:nvSpPr>
        <p:spPr>
          <a:xfrm>
            <a:off x="2667000" y="4991100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0">
                <a:solidFill>
                  <a:srgbClr val="62E0B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2E0B0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3403D3A-29BA-4694-86BB-9322DF7A46AE}"/>
              </a:ext>
            </a:extLst>
          </p:cNvPr>
          <p:cNvSpPr>
            <a:spLocks noGrp="1"/>
          </p:cNvSpPr>
          <p:nvPr/>
        </p:nvSpPr>
        <p:spPr>
          <a:xfrm>
            <a:off x="3200400" y="4991100"/>
            <a:ext cx="171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0E2D2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E2D22"/>
                </a:solidFill>
                <a:latin typeface="Malgun Gothic"/>
                <a:ea typeface="Malgun Gothic"/>
                <a:cs typeface="Malgun Gothic"/>
              </a:rPr>
              <a:t>실행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5575EDA-A4E9-4B43-BFCD-853AC41FEBC3}"/>
              </a:ext>
            </a:extLst>
          </p:cNvPr>
          <p:cNvSpPr>
            <a:spLocks noGrp="1"/>
          </p:cNvSpPr>
          <p:nvPr/>
        </p:nvSpPr>
        <p:spPr>
          <a:xfrm>
            <a:off x="4991100" y="4991100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0">
                <a:solidFill>
                  <a:srgbClr val="62E0B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2E0B0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E655163-7F10-4E64-A5BC-548EB3CE5710}"/>
              </a:ext>
            </a:extLst>
          </p:cNvPr>
          <p:cNvSpPr>
            <a:spLocks noGrp="1"/>
          </p:cNvSpPr>
          <p:nvPr/>
        </p:nvSpPr>
        <p:spPr>
          <a:xfrm>
            <a:off x="5524500" y="4991100"/>
            <a:ext cx="171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0E2D2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E2D22"/>
                </a:solidFill>
                <a:latin typeface="Malgun Gothic"/>
                <a:ea typeface="Malgun Gothic"/>
                <a:cs typeface="Malgun Gothic"/>
              </a:rPr>
              <a:t>검증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9C81E87-50A0-4B01-ADC6-5F9479611E7B}"/>
              </a:ext>
            </a:extLst>
          </p:cNvPr>
          <p:cNvSpPr>
            <a:spLocks noGrp="1"/>
          </p:cNvSpPr>
          <p:nvPr/>
        </p:nvSpPr>
        <p:spPr>
          <a:xfrm>
            <a:off x="7315200" y="4991100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0">
                <a:solidFill>
                  <a:srgbClr val="62E0B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2E0B0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3931D26-96DC-48C1-8ED6-613DD915A05D}"/>
              </a:ext>
            </a:extLst>
          </p:cNvPr>
          <p:cNvSpPr>
            <a:spLocks noGrp="1"/>
          </p:cNvSpPr>
          <p:nvPr/>
        </p:nvSpPr>
        <p:spPr>
          <a:xfrm>
            <a:off x="7848600" y="4991100"/>
            <a:ext cx="171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0E2D2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E2D22"/>
                </a:solidFill>
                <a:latin typeface="Malgun Gothic"/>
                <a:ea typeface="Malgun Gothic"/>
                <a:cs typeface="Malgun Gothic"/>
              </a:rPr>
              <a:t>기록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A15698F-149E-4676-B525-3E68E79E2F5A}"/>
              </a:ext>
            </a:extLst>
          </p:cNvPr>
          <p:cNvSpPr>
            <a:spLocks noGrp="1"/>
          </p:cNvSpPr>
          <p:nvPr/>
        </p:nvSpPr>
        <p:spPr>
          <a:xfrm>
            <a:off x="9639300" y="4991100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0">
                <a:solidFill>
                  <a:srgbClr val="62E0B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2E0B0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676FFA0-FD65-4341-9734-E56F8DBB3783}"/>
              </a:ext>
            </a:extLst>
          </p:cNvPr>
          <p:cNvSpPr>
            <a:spLocks noGrp="1"/>
          </p:cNvSpPr>
          <p:nvPr/>
        </p:nvSpPr>
        <p:spPr>
          <a:xfrm>
            <a:off x="10134600" y="4991100"/>
            <a:ext cx="1333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0E2D2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E2D22"/>
                </a:solidFill>
                <a:latin typeface="Malgun Gothic"/>
                <a:ea typeface="Malgun Gothic"/>
                <a:cs typeface="Malgun Gothic"/>
              </a:rPr>
              <a:t>공개</a:t>
            </a:r>
          </a:p>
        </p:txBody>
      </p:sp>
      <p:sp>
        <p:nvSpPr>
          <p:cNvPr id="28" name="직선 연결선 27">
            <a:extLst>
              <a:ext uri="{FF2B5EF4-FFF2-40B4-BE49-F238E27FC236}">
                <a16:creationId xmlns:a16="http://schemas.microsoft.com/office/drawing/2014/main" id="{EC69F3C5-0A06-4184-944F-4733D844F4D4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7C1"/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E056F7D-436A-4098-A7FD-590ABBF7212C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LLM-lab · 2차 세미나</a:t>
            </a:r>
          </a:p>
        </p:txBody>
      </p:sp>
    </p:spTree>
    <p:extLst>
      <p:ext uri="{BB962C8B-B14F-4D97-AF65-F5344CB8AC3E}">
        <p14:creationId xmlns:p14="http://schemas.microsoft.com/office/powerpoint/2010/main" val="1716964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-4-title">
            <a:extLst>
              <a:ext uri="{FF2B5EF4-FFF2-40B4-BE49-F238E27FC236}">
                <a16:creationId xmlns:a16="http://schemas.microsoft.com/office/drawing/2014/main" id="{0146C4C8-F2B0-45BB-9EA0-ED1DD385DDC6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0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환경 구축에서 공개 릴리스까지 한 사이클을 완주했다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A913269-99DF-4BC3-8E54-5F0E4C6DBC71}"/>
              </a:ext>
            </a:extLst>
          </p:cNvPr>
          <p:cNvSpPr>
            <a:spLocks noGrp="1"/>
          </p:cNvSpPr>
          <p:nvPr/>
        </p:nvSpPr>
        <p:spPr>
          <a:xfrm>
            <a:off x="11239500" y="457200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1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346C5AE5-91ED-4BE7-AF3F-0A46A6593FB5}"/>
              </a:ext>
            </a:extLst>
          </p:cNvPr>
          <p:cNvSpPr>
            <a:spLocks noGrp="1"/>
          </p:cNvSpPr>
          <p:nvPr/>
        </p:nvSpPr>
        <p:spPr>
          <a:xfrm>
            <a:off x="1047750" y="3048000"/>
            <a:ext cx="9620250" cy="0"/>
          </a:xfrm>
          <a:prstGeom prst="line">
            <a:avLst/>
          </a:prstGeom>
          <a:noFill/>
          <a:ln w="19050">
            <a:solidFill>
              <a:srgbClr val="10231C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00A3A1A-0B08-4983-B9E7-2D381F91B361}"/>
              </a:ext>
            </a:extLst>
          </p:cNvPr>
          <p:cNvSpPr>
            <a:spLocks noGrp="1"/>
          </p:cNvSpPr>
          <p:nvPr/>
        </p:nvSpPr>
        <p:spPr>
          <a:xfrm>
            <a:off x="571500" y="203835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환경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4D352252-DE24-4125-9A63-54A01B56CEB8}"/>
              </a:ext>
            </a:extLst>
          </p:cNvPr>
          <p:cNvSpPr>
            <a:spLocks noGrp="1"/>
          </p:cNvSpPr>
          <p:nvPr/>
        </p:nvSpPr>
        <p:spPr>
          <a:xfrm>
            <a:off x="1085850" y="2914650"/>
            <a:ext cx="266700" cy="266700"/>
          </a:xfrm>
          <a:prstGeom prst="ellipse">
            <a:avLst/>
          </a:prstGeom>
          <a:solidFill>
            <a:srgbClr val="0E2D22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8672FCB-F4BE-4119-B4B3-1F04A36C4316}"/>
              </a:ext>
            </a:extLst>
          </p:cNvPr>
          <p:cNvSpPr>
            <a:spLocks noGrp="1"/>
          </p:cNvSpPr>
          <p:nvPr/>
        </p:nvSpPr>
        <p:spPr>
          <a:xfrm>
            <a:off x="457200" y="3543300"/>
            <a:ext cx="1600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Python 3.12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AAA2E72-73BB-46D7-91A7-1386692AAA45}"/>
              </a:ext>
            </a:extLst>
          </p:cNvPr>
          <p:cNvSpPr>
            <a:spLocks noGrp="1"/>
          </p:cNvSpPr>
          <p:nvPr/>
        </p:nvSpPr>
        <p:spPr>
          <a:xfrm>
            <a:off x="457200" y="4038600"/>
            <a:ext cx="16002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가상환경과</a:t>
            </a:r>
          </a:p>
          <a:p>
            <a:pPr algn="ctr"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패키지 준비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2ED6295-B29B-4A70-AEC1-08EAE6585A2C}"/>
              </a:ext>
            </a:extLst>
          </p:cNvPr>
          <p:cNvSpPr>
            <a:spLocks noGrp="1"/>
          </p:cNvSpPr>
          <p:nvPr/>
        </p:nvSpPr>
        <p:spPr>
          <a:xfrm>
            <a:off x="2857500" y="203835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모델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D644407D-D3E3-4FA6-AD06-892E852CEAD2}"/>
              </a:ext>
            </a:extLst>
          </p:cNvPr>
          <p:cNvSpPr>
            <a:spLocks noGrp="1"/>
          </p:cNvSpPr>
          <p:nvPr/>
        </p:nvSpPr>
        <p:spPr>
          <a:xfrm>
            <a:off x="3371850" y="2914650"/>
            <a:ext cx="266700" cy="266700"/>
          </a:xfrm>
          <a:prstGeom prst="ellipse">
            <a:avLst/>
          </a:prstGeom>
          <a:solidFill>
            <a:srgbClr val="0E2D22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AAEE9C2-1B38-45FD-8A90-91044B4D7CBA}"/>
              </a:ext>
            </a:extLst>
          </p:cNvPr>
          <p:cNvSpPr>
            <a:spLocks noGrp="1"/>
          </p:cNvSpPr>
          <p:nvPr/>
        </p:nvSpPr>
        <p:spPr>
          <a:xfrm>
            <a:off x="2743200" y="3543300"/>
            <a:ext cx="1600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qwen3 2종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5474A5B-7AD5-4B23-84C2-707922F30CC0}"/>
              </a:ext>
            </a:extLst>
          </p:cNvPr>
          <p:cNvSpPr>
            <a:spLocks noGrp="1"/>
          </p:cNvSpPr>
          <p:nvPr/>
        </p:nvSpPr>
        <p:spPr>
          <a:xfrm>
            <a:off x="2743200" y="4038600"/>
            <a:ext cx="16002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0.6B·1.7B</a:t>
            </a:r>
          </a:p>
          <a:p>
            <a:pPr algn="ctr"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CPU 실행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6FD83B4-00C3-44EA-B22C-F2DC5473FC76}"/>
              </a:ext>
            </a:extLst>
          </p:cNvPr>
          <p:cNvSpPr>
            <a:spLocks noGrp="1"/>
          </p:cNvSpPr>
          <p:nvPr/>
        </p:nvSpPr>
        <p:spPr>
          <a:xfrm>
            <a:off x="5143500" y="203835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웹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00DCE4C9-B05C-4F01-A4F8-614DC2E53845}"/>
              </a:ext>
            </a:extLst>
          </p:cNvPr>
          <p:cNvSpPr>
            <a:spLocks noGrp="1"/>
          </p:cNvSpPr>
          <p:nvPr/>
        </p:nvSpPr>
        <p:spPr>
          <a:xfrm>
            <a:off x="5657850" y="2914650"/>
            <a:ext cx="266700" cy="266700"/>
          </a:xfrm>
          <a:prstGeom prst="ellipse">
            <a:avLst/>
          </a:prstGeom>
          <a:solidFill>
            <a:srgbClr val="0E2D22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4508752-D437-4013-87E9-A1922F470B88}"/>
              </a:ext>
            </a:extLst>
          </p:cNvPr>
          <p:cNvSpPr>
            <a:spLocks noGrp="1"/>
          </p:cNvSpPr>
          <p:nvPr/>
        </p:nvSpPr>
        <p:spPr>
          <a:xfrm>
            <a:off x="5029200" y="3543300"/>
            <a:ext cx="1600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3개 프레임워크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43BDBEB-474A-415C-99CD-56122115A23F}"/>
              </a:ext>
            </a:extLst>
          </p:cNvPr>
          <p:cNvSpPr>
            <a:spLocks noGrp="1"/>
          </p:cNvSpPr>
          <p:nvPr/>
        </p:nvSpPr>
        <p:spPr>
          <a:xfrm>
            <a:off x="5029200" y="4038600"/>
            <a:ext cx="16002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FastAPI·Flask</a:t>
            </a:r>
          </a:p>
          <a:p>
            <a:pPr algn="ctr"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Streamlit 비교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C4805EF-11C0-48D0-90C3-73871F2C1951}"/>
              </a:ext>
            </a:extLst>
          </p:cNvPr>
          <p:cNvSpPr>
            <a:spLocks noGrp="1"/>
          </p:cNvSpPr>
          <p:nvPr/>
        </p:nvSpPr>
        <p:spPr>
          <a:xfrm>
            <a:off x="7429500" y="203835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RAG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F974BE34-561F-4EA5-8B58-EBB3B0BB1DC8}"/>
              </a:ext>
            </a:extLst>
          </p:cNvPr>
          <p:cNvSpPr>
            <a:spLocks noGrp="1"/>
          </p:cNvSpPr>
          <p:nvPr/>
        </p:nvSpPr>
        <p:spPr>
          <a:xfrm>
            <a:off x="7943850" y="2914650"/>
            <a:ext cx="266700" cy="266700"/>
          </a:xfrm>
          <a:prstGeom prst="ellipse">
            <a:avLst/>
          </a:prstGeom>
          <a:solidFill>
            <a:srgbClr val="0E2D22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AE0F903-5464-4444-B1FF-E0D5893A2ECB}"/>
              </a:ext>
            </a:extLst>
          </p:cNvPr>
          <p:cNvSpPr>
            <a:spLocks noGrp="1"/>
          </p:cNvSpPr>
          <p:nvPr/>
        </p:nvSpPr>
        <p:spPr>
          <a:xfrm>
            <a:off x="7315200" y="3543300"/>
            <a:ext cx="1600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근거·검증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01EAA01-D5AD-4ED8-BC66-243BBD1E3C30}"/>
              </a:ext>
            </a:extLst>
          </p:cNvPr>
          <p:cNvSpPr>
            <a:spLocks noGrp="1"/>
          </p:cNvSpPr>
          <p:nvPr/>
        </p:nvSpPr>
        <p:spPr>
          <a:xfrm>
            <a:off x="7315200" y="4038600"/>
            <a:ext cx="16002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Wiki 검색·업로드</a:t>
            </a:r>
          </a:p>
          <a:p>
            <a:pPr algn="ctr"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수치 검증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016D86B-54A7-4EA2-8D6B-2D7B88CBDDA1}"/>
              </a:ext>
            </a:extLst>
          </p:cNvPr>
          <p:cNvSpPr>
            <a:spLocks noGrp="1"/>
          </p:cNvSpPr>
          <p:nvPr/>
        </p:nvSpPr>
        <p:spPr>
          <a:xfrm>
            <a:off x="9715500" y="203835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공개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915858A0-8D1A-43DD-8AB3-BF011C7588C1}"/>
              </a:ext>
            </a:extLst>
          </p:cNvPr>
          <p:cNvSpPr>
            <a:spLocks noGrp="1"/>
          </p:cNvSpPr>
          <p:nvPr/>
        </p:nvSpPr>
        <p:spPr>
          <a:xfrm>
            <a:off x="10229850" y="2914650"/>
            <a:ext cx="266700" cy="266700"/>
          </a:xfrm>
          <a:prstGeom prst="ellipse">
            <a:avLst/>
          </a:prstGeom>
          <a:solidFill>
            <a:srgbClr val="62E0B0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4BD4327-4266-4FFC-8367-AE5ECDFBCF65}"/>
              </a:ext>
            </a:extLst>
          </p:cNvPr>
          <p:cNvSpPr>
            <a:spLocks noGrp="1"/>
          </p:cNvSpPr>
          <p:nvPr/>
        </p:nvSpPr>
        <p:spPr>
          <a:xfrm>
            <a:off x="9601200" y="3543300"/>
            <a:ext cx="1600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v0.1.0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AC64EEC-C579-42FE-B0BB-0EDD804D991F}"/>
              </a:ext>
            </a:extLst>
          </p:cNvPr>
          <p:cNvSpPr>
            <a:spLocks noGrp="1"/>
          </p:cNvSpPr>
          <p:nvPr/>
        </p:nvSpPr>
        <p:spPr>
          <a:xfrm>
            <a:off x="9601200" y="4038600"/>
            <a:ext cx="16002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24 tests</a:t>
            </a:r>
          </a:p>
          <a:p>
            <a:pPr algn="ctr"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GitHub Release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171AB58-9CA9-4C8F-AE39-5C121B7CAB8B}"/>
              </a:ext>
            </a:extLst>
          </p:cNvPr>
          <p:cNvSpPr>
            <a:spLocks noGrp="1"/>
          </p:cNvSpPr>
          <p:nvPr/>
        </p:nvSpPr>
        <p:spPr>
          <a:xfrm>
            <a:off x="1200150" y="5334000"/>
            <a:ext cx="97917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0E2D2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E2D22"/>
                </a:solidFill>
                <a:latin typeface="Malgun Gothic"/>
                <a:ea typeface="Malgun Gothic"/>
                <a:cs typeface="Malgun Gothic"/>
              </a:rPr>
              <a:t>핵심은 기능 하나가 아니라 ‘실행 → 비교 → 검증 → 기록 → 공개’의 반복 가능한 과정이다.</a:t>
            </a:r>
          </a:p>
        </p:txBody>
      </p:sp>
      <p:sp>
        <p:nvSpPr>
          <p:cNvPr id="25" name="직선 연결선 24">
            <a:extLst>
              <a:ext uri="{FF2B5EF4-FFF2-40B4-BE49-F238E27FC236}">
                <a16:creationId xmlns:a16="http://schemas.microsoft.com/office/drawing/2014/main" id="{2C762470-B4CF-4190-911D-E2B14CCF3D65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7C1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84CD84E-2006-4D0E-8E33-A8F50C547B6D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LLM-lab · 2차 세미나</a:t>
            </a:r>
          </a:p>
        </p:txBody>
      </p:sp>
    </p:spTree>
    <p:extLst>
      <p:ext uri="{BB962C8B-B14F-4D97-AF65-F5344CB8AC3E}">
        <p14:creationId xmlns:p14="http://schemas.microsoft.com/office/powerpoint/2010/main" val="1502133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-5-title">
            <a:extLst>
              <a:ext uri="{FF2B5EF4-FFF2-40B4-BE49-F238E27FC236}">
                <a16:creationId xmlns:a16="http://schemas.microsoft.com/office/drawing/2014/main" id="{F3439E93-9F53-453B-9D6A-BD88D4C85699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0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세 프레임워크의 역할이 분명해졌다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36FB2F2-AF39-4A0D-BD98-6434E5098721}"/>
              </a:ext>
            </a:extLst>
          </p:cNvPr>
          <p:cNvSpPr>
            <a:spLocks noGrp="1"/>
          </p:cNvSpPr>
          <p:nvPr/>
        </p:nvSpPr>
        <p:spPr>
          <a:xfrm>
            <a:off x="11239500" y="457200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1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FC6AC95-0A87-4417-94AF-826F80E36745}"/>
              </a:ext>
            </a:extLst>
          </p:cNvPr>
          <p:cNvSpPr>
            <a:spLocks noGrp="1"/>
          </p:cNvSpPr>
          <p:nvPr/>
        </p:nvSpPr>
        <p:spPr>
          <a:xfrm>
            <a:off x="533400" y="133350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FastAPI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6BB3A43-80F4-4856-A752-71F1D9BEEF4C}"/>
              </a:ext>
            </a:extLst>
          </p:cNvPr>
          <p:cNvSpPr>
            <a:spLocks noGrp="1"/>
          </p:cNvSpPr>
          <p:nvPr/>
        </p:nvSpPr>
        <p:spPr>
          <a:xfrm>
            <a:off x="533400" y="1828800"/>
            <a:ext cx="3333750" cy="2628900"/>
          </a:xfrm>
          <a:prstGeom prst="rect">
            <a:avLst/>
          </a:prstGeom>
          <a:solidFill>
            <a:srgbClr val="F4F7F6"/>
          </a:solidFill>
          <a:ln w="9525">
            <a:solidFill>
              <a:srgbClr val="B9C7C1"/>
            </a:solidFill>
            <a:prstDash val="solid"/>
          </a:ln>
        </p:spPr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11167" y="1924050"/>
            <a:ext cx="2578217" cy="24384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9F8091A-BA62-4A7A-9D6D-322B67B7572C}"/>
              </a:ext>
            </a:extLst>
          </p:cNvPr>
          <p:cNvSpPr>
            <a:spLocks noGrp="1"/>
          </p:cNvSpPr>
          <p:nvPr/>
        </p:nvSpPr>
        <p:spPr>
          <a:xfrm>
            <a:off x="533400" y="4705350"/>
            <a:ext cx="333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주력 백엔드</a:t>
            </a:r>
          </a:p>
          <a:p>
            <a:pPr algn="l"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REST API·OpenAPI·확장성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5540A55-9FF2-4D77-8B40-EEA8B950D537}"/>
              </a:ext>
            </a:extLst>
          </p:cNvPr>
          <p:cNvSpPr>
            <a:spLocks noGrp="1"/>
          </p:cNvSpPr>
          <p:nvPr/>
        </p:nvSpPr>
        <p:spPr>
          <a:xfrm>
            <a:off x="4171950" y="133350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Flask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4A014CC-E195-4C56-80CA-5F0442FEB19F}"/>
              </a:ext>
            </a:extLst>
          </p:cNvPr>
          <p:cNvSpPr>
            <a:spLocks noGrp="1"/>
          </p:cNvSpPr>
          <p:nvPr/>
        </p:nvSpPr>
        <p:spPr>
          <a:xfrm>
            <a:off x="4171950" y="1828800"/>
            <a:ext cx="3333750" cy="2628900"/>
          </a:xfrm>
          <a:prstGeom prst="rect">
            <a:avLst/>
          </a:prstGeom>
          <a:solidFill>
            <a:srgbClr val="F4F7F6"/>
          </a:solidFill>
          <a:ln w="9525">
            <a:solidFill>
              <a:srgbClr val="B9C7C1"/>
            </a:solidFill>
            <a:prstDash val="solid"/>
          </a:ln>
        </p:spPr>
      </p:sp>
      <p:pic>
        <p:nvPicPr>
          <p:cNvPr id="26" name="그림 2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408521" y="1924050"/>
            <a:ext cx="2860607" cy="24384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995E6B02-52EF-4AED-A854-32DC659D8806}"/>
              </a:ext>
            </a:extLst>
          </p:cNvPr>
          <p:cNvSpPr>
            <a:spLocks noGrp="1"/>
          </p:cNvSpPr>
          <p:nvPr/>
        </p:nvSpPr>
        <p:spPr>
          <a:xfrm>
            <a:off x="4171950" y="4705350"/>
            <a:ext cx="333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최소 비교 구현</a:t>
            </a:r>
          </a:p>
          <a:p>
            <a:pPr algn="l"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원리 학습·작은 데모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8891CC4-001D-496C-AEE3-6FD922284C91}"/>
              </a:ext>
            </a:extLst>
          </p:cNvPr>
          <p:cNvSpPr>
            <a:spLocks noGrp="1"/>
          </p:cNvSpPr>
          <p:nvPr/>
        </p:nvSpPr>
        <p:spPr>
          <a:xfrm>
            <a:off x="7810500" y="133350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Streamlit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ECEA0E0-758E-4138-B38B-10373EA045C2}"/>
              </a:ext>
            </a:extLst>
          </p:cNvPr>
          <p:cNvSpPr>
            <a:spLocks noGrp="1"/>
          </p:cNvSpPr>
          <p:nvPr/>
        </p:nvSpPr>
        <p:spPr>
          <a:xfrm>
            <a:off x="7810500" y="1828800"/>
            <a:ext cx="3333750" cy="2628900"/>
          </a:xfrm>
          <a:prstGeom prst="rect">
            <a:avLst/>
          </a:prstGeom>
          <a:solidFill>
            <a:srgbClr val="F4F7F6"/>
          </a:solidFill>
          <a:ln w="9525">
            <a:solidFill>
              <a:srgbClr val="B9C7C1"/>
            </a:solidFill>
            <a:prstDash val="solid"/>
          </a:ln>
        </p:spPr>
      </p:sp>
      <p:pic>
        <p:nvPicPr>
          <p:cNvPr id="30" name="그림 2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905750" y="2317824"/>
            <a:ext cx="3143250" cy="1650851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9A00452B-851F-4E66-BA28-DBA1DF3CDA6E}"/>
              </a:ext>
            </a:extLst>
          </p:cNvPr>
          <p:cNvSpPr>
            <a:spLocks noGrp="1"/>
          </p:cNvSpPr>
          <p:nvPr/>
        </p:nvSpPr>
        <p:spPr>
          <a:xfrm>
            <a:off x="7810500" y="4705350"/>
            <a:ext cx="333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빠른 실험 UI</a:t>
            </a:r>
          </a:p>
          <a:p>
            <a:pPr algn="l"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코드량이 적고 시각화가 쉬움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0B9B785-C2B1-49C9-87AA-C2740965CC9F}"/>
              </a:ext>
            </a:extLst>
          </p:cNvPr>
          <p:cNvSpPr>
            <a:spLocks noGrp="1"/>
          </p:cNvSpPr>
          <p:nvPr/>
        </p:nvSpPr>
        <p:spPr>
          <a:xfrm>
            <a:off x="952500" y="5791200"/>
            <a:ext cx="1028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0E2D2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E2D22"/>
                </a:solidFill>
                <a:latin typeface="Malgun Gothic"/>
                <a:ea typeface="Malgun Gothic"/>
                <a:cs typeface="Malgun Gothic"/>
              </a:rPr>
              <a:t>선택: 제품 백엔드는 FastAPI, 빠른 UI 실험은 Streamlit, Flask는 비교군으로 유지</a:t>
            </a:r>
          </a:p>
        </p:txBody>
      </p:sp>
      <p:sp>
        <p:nvSpPr>
          <p:cNvPr id="16" name="직선 연결선 15">
            <a:extLst>
              <a:ext uri="{FF2B5EF4-FFF2-40B4-BE49-F238E27FC236}">
                <a16:creationId xmlns:a16="http://schemas.microsoft.com/office/drawing/2014/main" id="{14203DD9-DD29-4AB1-B72F-3992DBA1DDD3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7C1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590F275-CCAD-4A25-A4F2-D9E2031FE400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LLM-lab · 2차 세미나</a:t>
            </a:r>
          </a:p>
        </p:txBody>
      </p:sp>
    </p:spTree>
    <p:extLst>
      <p:ext uri="{BB962C8B-B14F-4D97-AF65-F5344CB8AC3E}">
        <p14:creationId xmlns:p14="http://schemas.microsoft.com/office/powerpoint/2010/main" val="1348107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-6-title">
            <a:extLst>
              <a:ext uri="{FF2B5EF4-FFF2-40B4-BE49-F238E27FC236}">
                <a16:creationId xmlns:a16="http://schemas.microsoft.com/office/drawing/2014/main" id="{B9EEA64C-492B-46A6-B748-A4E6E83CBB90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0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FastAPI가 로컬 검색·모델·검증을 한 흐름으로 묶는다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FFE68AB-5837-4928-96C9-1C87D33BC0BD}"/>
              </a:ext>
            </a:extLst>
          </p:cNvPr>
          <p:cNvSpPr>
            <a:spLocks noGrp="1"/>
          </p:cNvSpPr>
          <p:nvPr/>
        </p:nvSpPr>
        <p:spPr>
          <a:xfrm>
            <a:off x="11239500" y="457200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1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CA8E5327-52DC-4836-B014-8337C6841436}"/>
              </a:ext>
            </a:extLst>
          </p:cNvPr>
          <p:cNvSpPr>
            <a:spLocks noGrp="1"/>
          </p:cNvSpPr>
          <p:nvPr/>
        </p:nvSpPr>
        <p:spPr>
          <a:xfrm>
            <a:off x="2381250" y="3371850"/>
            <a:ext cx="571500" cy="0"/>
          </a:xfrm>
          <a:prstGeom prst="line">
            <a:avLst/>
          </a:prstGeom>
          <a:noFill/>
          <a:ln w="38100">
            <a:solidFill>
              <a:srgbClr val="62E0B0"/>
            </a:solidFill>
            <a:prstDash val="solid"/>
          </a:ln>
        </p:spPr>
      </p:sp>
      <p:sp>
        <p:nvSpPr>
          <p:cNvPr id="4" name="직선 연결선 3">
            <a:extLst>
              <a:ext uri="{FF2B5EF4-FFF2-40B4-BE49-F238E27FC236}">
                <a16:creationId xmlns:a16="http://schemas.microsoft.com/office/drawing/2014/main" id="{BFCDF350-DDF1-481D-B7BD-15D01B78D3D6}"/>
              </a:ext>
            </a:extLst>
          </p:cNvPr>
          <p:cNvSpPr>
            <a:spLocks noGrp="1"/>
          </p:cNvSpPr>
          <p:nvPr/>
        </p:nvSpPr>
        <p:spPr>
          <a:xfrm>
            <a:off x="4857750" y="3371850"/>
            <a:ext cx="571500" cy="0"/>
          </a:xfrm>
          <a:prstGeom prst="line">
            <a:avLst/>
          </a:prstGeom>
          <a:noFill/>
          <a:ln w="38100">
            <a:solidFill>
              <a:srgbClr val="62E0B0"/>
            </a:solidFill>
            <a:prstDash val="solid"/>
          </a:ln>
        </p:spPr>
      </p:sp>
      <p:sp>
        <p:nvSpPr>
          <p:cNvPr id="5" name="직선 연결선 4">
            <a:extLst>
              <a:ext uri="{FF2B5EF4-FFF2-40B4-BE49-F238E27FC236}">
                <a16:creationId xmlns:a16="http://schemas.microsoft.com/office/drawing/2014/main" id="{D28404BF-F57B-4C99-8F83-96188A92B6DD}"/>
              </a:ext>
            </a:extLst>
          </p:cNvPr>
          <p:cNvSpPr>
            <a:spLocks noGrp="1"/>
          </p:cNvSpPr>
          <p:nvPr/>
        </p:nvSpPr>
        <p:spPr>
          <a:xfrm>
            <a:off x="7429500" y="3371850"/>
            <a:ext cx="571500" cy="0"/>
          </a:xfrm>
          <a:prstGeom prst="line">
            <a:avLst/>
          </a:prstGeom>
          <a:noFill/>
          <a:ln w="38100">
            <a:solidFill>
              <a:srgbClr val="62E0B0"/>
            </a:solidFill>
            <a:prstDash val="solid"/>
          </a:ln>
        </p:spPr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140FABD6-AB65-4D00-9A7B-EE3ADE3D3141}"/>
              </a:ext>
            </a:extLst>
          </p:cNvPr>
          <p:cNvSpPr>
            <a:spLocks noGrp="1"/>
          </p:cNvSpPr>
          <p:nvPr/>
        </p:nvSpPr>
        <p:spPr>
          <a:xfrm>
            <a:off x="9620250" y="3371850"/>
            <a:ext cx="571500" cy="0"/>
          </a:xfrm>
          <a:prstGeom prst="line">
            <a:avLst/>
          </a:prstGeom>
          <a:noFill/>
          <a:ln w="38100">
            <a:solidFill>
              <a:srgbClr val="62E0B0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C83CD84-EBBC-4802-8FF5-3F4C2BFB28AE}"/>
              </a:ext>
            </a:extLst>
          </p:cNvPr>
          <p:cNvSpPr>
            <a:spLocks noGrp="1"/>
          </p:cNvSpPr>
          <p:nvPr/>
        </p:nvSpPr>
        <p:spPr>
          <a:xfrm>
            <a:off x="571500" y="2857500"/>
            <a:ext cx="1809750" cy="1028700"/>
          </a:xfrm>
          <a:prstGeom prst="roundRect">
            <a:avLst>
              <a:gd name="adj" fmla="val 14815"/>
            </a:avLst>
          </a:prstGeom>
          <a:solidFill>
            <a:srgbClr val="EAF2EF"/>
          </a:solidFill>
          <a:ln w="9525">
            <a:solidFill>
              <a:srgbClr val="B9C7C1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브라우저</a:t>
            </a:r>
          </a:p>
          <a:p>
            <a:pPr algn="ctr">
              <a:def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privAI UI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DEA2CAF-9AE3-4A56-8214-FA161E003006}"/>
              </a:ext>
            </a:extLst>
          </p:cNvPr>
          <p:cNvSpPr>
            <a:spLocks noGrp="1"/>
          </p:cNvSpPr>
          <p:nvPr/>
        </p:nvSpPr>
        <p:spPr>
          <a:xfrm>
            <a:off x="2952750" y="2857500"/>
            <a:ext cx="1905000" cy="1028700"/>
          </a:xfrm>
          <a:prstGeom prst="roundRect">
            <a:avLst>
              <a:gd name="adj" fmla="val 14815"/>
            </a:avLst>
          </a:prstGeom>
          <a:solidFill>
            <a:srgbClr val="0E2D22"/>
          </a:solidFill>
          <a:ln w="9525">
            <a:solidFill>
              <a:srgbClr val="0E2D22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FastAPI</a:t>
            </a:r>
          </a:p>
          <a:p>
            <a:pPr algn="ct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REST API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08CC041-9B09-4626-946D-C85C06F3C45C}"/>
              </a:ext>
            </a:extLst>
          </p:cNvPr>
          <p:cNvSpPr>
            <a:spLocks noGrp="1"/>
          </p:cNvSpPr>
          <p:nvPr/>
        </p:nvSpPr>
        <p:spPr>
          <a:xfrm>
            <a:off x="5429250" y="2857500"/>
            <a:ext cx="2000250" cy="1028700"/>
          </a:xfrm>
          <a:prstGeom prst="roundRect">
            <a:avLst>
              <a:gd name="adj" fmla="val 14815"/>
            </a:avLst>
          </a:prstGeom>
          <a:solidFill>
            <a:srgbClr val="EAF2EF"/>
          </a:solidFill>
          <a:ln w="9525">
            <a:solidFill>
              <a:srgbClr val="B9C7C1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BM25</a:t>
            </a:r>
          </a:p>
          <a:p>
            <a:pPr algn="ctr">
              <a:def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Wiki·업로드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7F45271-4E83-40C7-B25C-A76419D62FBC}"/>
              </a:ext>
            </a:extLst>
          </p:cNvPr>
          <p:cNvSpPr>
            <a:spLocks noGrp="1"/>
          </p:cNvSpPr>
          <p:nvPr/>
        </p:nvSpPr>
        <p:spPr>
          <a:xfrm>
            <a:off x="8001000" y="2857500"/>
            <a:ext cx="1619250" cy="1028700"/>
          </a:xfrm>
          <a:prstGeom prst="roundRect">
            <a:avLst>
              <a:gd name="adj" fmla="val 14815"/>
            </a:avLst>
          </a:prstGeom>
          <a:solidFill>
            <a:srgbClr val="EAF2EF"/>
          </a:solidFill>
          <a:ln w="9525">
            <a:solidFill>
              <a:srgbClr val="B9C7C1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Ollama</a:t>
            </a:r>
          </a:p>
          <a:p>
            <a:pPr algn="ctr">
              <a:def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qwen3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1CB26EF-BFB1-4AFF-BEF3-07BD0870D8DB}"/>
              </a:ext>
            </a:extLst>
          </p:cNvPr>
          <p:cNvSpPr>
            <a:spLocks noGrp="1"/>
          </p:cNvSpPr>
          <p:nvPr/>
        </p:nvSpPr>
        <p:spPr>
          <a:xfrm>
            <a:off x="10191750" y="2857500"/>
            <a:ext cx="1428750" cy="1028700"/>
          </a:xfrm>
          <a:prstGeom prst="roundRect">
            <a:avLst>
              <a:gd name="adj" fmla="val 14815"/>
            </a:avLst>
          </a:prstGeom>
          <a:solidFill>
            <a:srgbClr val="EAF2EF"/>
          </a:solidFill>
          <a:ln w="9525">
            <a:solidFill>
              <a:srgbClr val="B9C7C1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답변</a:t>
            </a:r>
          </a:p>
          <a:p>
            <a:pPr algn="ctr">
              <a:def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출처·검증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23DE44C-B2AE-44E4-89B3-38E29050E19C}"/>
              </a:ext>
            </a:extLst>
          </p:cNvPr>
          <p:cNvSpPr>
            <a:spLocks noGrp="1"/>
          </p:cNvSpPr>
          <p:nvPr/>
        </p:nvSpPr>
        <p:spPr>
          <a:xfrm>
            <a:off x="1619250" y="1562100"/>
            <a:ext cx="76200" cy="781050"/>
          </a:xfrm>
          <a:prstGeom prst="rect">
            <a:avLst/>
          </a:prstGeom>
          <a:solidFill>
            <a:srgbClr val="62E0B0"/>
          </a:solidFill>
          <a:ln w="0">
            <a:solidFill>
              <a:srgbClr val="62E0B0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778869-17BC-437D-85DD-6ED00A2E0334}"/>
              </a:ext>
            </a:extLst>
          </p:cNvPr>
          <p:cNvSpPr>
            <a:spLocks noGrp="1"/>
          </p:cNvSpPr>
          <p:nvPr/>
        </p:nvSpPr>
        <p:spPr>
          <a:xfrm>
            <a:off x="1866900" y="1581150"/>
            <a:ext cx="3467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로컬 지식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50B9A5D-1A87-4FFC-B3C6-95B63ABA9841}"/>
              </a:ext>
            </a:extLst>
          </p:cNvPr>
          <p:cNvSpPr>
            <a:spLocks noGrp="1"/>
          </p:cNvSpPr>
          <p:nvPr/>
        </p:nvSpPr>
        <p:spPr>
          <a:xfrm>
            <a:off x="1866900" y="1924050"/>
            <a:ext cx="3467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Markdown 제목 단위 색인 · 최대 3개 근거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F897257-6A94-46FA-B572-1900135B731B}"/>
              </a:ext>
            </a:extLst>
          </p:cNvPr>
          <p:cNvSpPr>
            <a:spLocks noGrp="1"/>
          </p:cNvSpPr>
          <p:nvPr/>
        </p:nvSpPr>
        <p:spPr>
          <a:xfrm>
            <a:off x="6858000" y="1562100"/>
            <a:ext cx="76200" cy="781050"/>
          </a:xfrm>
          <a:prstGeom prst="rect">
            <a:avLst/>
          </a:prstGeom>
          <a:solidFill>
            <a:srgbClr val="F07F6A"/>
          </a:solidFill>
          <a:ln w="0">
            <a:solidFill>
              <a:srgbClr val="F07F6A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F9809D2-F793-42FC-9210-42F331A4C266}"/>
              </a:ext>
            </a:extLst>
          </p:cNvPr>
          <p:cNvSpPr>
            <a:spLocks noGrp="1"/>
          </p:cNvSpPr>
          <p:nvPr/>
        </p:nvSpPr>
        <p:spPr>
          <a:xfrm>
            <a:off x="7105650" y="1581150"/>
            <a:ext cx="3467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신뢰 하니스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CC4DF69-9DF1-4D2F-B2A3-1FB9FF4B9FC4}"/>
              </a:ext>
            </a:extLst>
          </p:cNvPr>
          <p:cNvSpPr>
            <a:spLocks noGrp="1"/>
          </p:cNvSpPr>
          <p:nvPr/>
        </p:nvSpPr>
        <p:spPr>
          <a:xfrm>
            <a:off x="7105650" y="1924050"/>
            <a:ext cx="3467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표 수치·날짜·금액·단위를 근거 원문과 대조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4E47C82-87FC-40DA-A14A-AAE8AE26ED31}"/>
              </a:ext>
            </a:extLst>
          </p:cNvPr>
          <p:cNvSpPr>
            <a:spLocks noGrp="1"/>
          </p:cNvSpPr>
          <p:nvPr/>
        </p:nvSpPr>
        <p:spPr>
          <a:xfrm>
            <a:off x="3048000" y="4762500"/>
            <a:ext cx="609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0E2D2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E2D22"/>
                </a:solidFill>
                <a:latin typeface="Malgun Gothic"/>
                <a:ea typeface="Malgun Gothic"/>
                <a:cs typeface="Malgun Gothic"/>
              </a:rPr>
              <a:t>모든 주요 연결은 127.0.0.1 안에서 동작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1F55EA7-4634-4DF0-BDAB-DE463F461483}"/>
              </a:ext>
            </a:extLst>
          </p:cNvPr>
          <p:cNvSpPr>
            <a:spLocks noGrp="1"/>
          </p:cNvSpPr>
          <p:nvPr/>
        </p:nvSpPr>
        <p:spPr>
          <a:xfrm>
            <a:off x="2381250" y="5295900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외부 LLM API 없이 검색과 생성, 검증 결과를 한 화면에 표시</a:t>
            </a:r>
          </a:p>
        </p:txBody>
      </p:sp>
      <p:sp>
        <p:nvSpPr>
          <p:cNvPr id="20" name="직선 연결선 19">
            <a:extLst>
              <a:ext uri="{FF2B5EF4-FFF2-40B4-BE49-F238E27FC236}">
                <a16:creationId xmlns:a16="http://schemas.microsoft.com/office/drawing/2014/main" id="{A7BE81E4-61D9-47CF-973C-051783E616EF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7C1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F642EC3-8365-45D0-B2A1-C9638C1525E2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LLM-lab · 2차 세미나</a:t>
            </a:r>
          </a:p>
        </p:txBody>
      </p:sp>
    </p:spTree>
    <p:extLst>
      <p:ext uri="{BB962C8B-B14F-4D97-AF65-F5344CB8AC3E}">
        <p14:creationId xmlns:p14="http://schemas.microsoft.com/office/powerpoint/2010/main" val="614600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-7-title">
            <a:extLst>
              <a:ext uri="{FF2B5EF4-FFF2-40B4-BE49-F238E27FC236}">
                <a16:creationId xmlns:a16="http://schemas.microsoft.com/office/drawing/2014/main" id="{6AE392BF-920F-45C5-986F-AF413C31EDC8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0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업로드한 문서로 출처와 검증까지 답한다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703C3C6-BC77-4B1F-9886-761372FA30E5}"/>
              </a:ext>
            </a:extLst>
          </p:cNvPr>
          <p:cNvSpPr>
            <a:spLocks noGrp="1"/>
          </p:cNvSpPr>
          <p:nvPr/>
        </p:nvSpPr>
        <p:spPr>
          <a:xfrm>
            <a:off x="11239500" y="457200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1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CC96334-F6F3-4557-BF52-C22775368EB9}"/>
              </a:ext>
            </a:extLst>
          </p:cNvPr>
          <p:cNvSpPr>
            <a:spLocks noGrp="1"/>
          </p:cNvSpPr>
          <p:nvPr/>
        </p:nvSpPr>
        <p:spPr>
          <a:xfrm>
            <a:off x="495300" y="1257300"/>
            <a:ext cx="6191250" cy="4762500"/>
          </a:xfrm>
          <a:prstGeom prst="rect">
            <a:avLst/>
          </a:prstGeom>
          <a:solidFill>
            <a:srgbClr val="071C15"/>
          </a:solidFill>
          <a:ln w="9525">
            <a:solidFill>
              <a:srgbClr val="B9C7C1"/>
            </a:solidFill>
            <a:prstDash val="solid"/>
          </a:ln>
        </p:spPr>
      </p:sp>
      <p:pic>
        <p:nvPicPr>
          <p:cNvPr id="20" name="그림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30674" y="1371600"/>
            <a:ext cx="4720501" cy="4533900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97E1C3C-CB41-4620-A8CB-3ED21B412D65}"/>
              </a:ext>
            </a:extLst>
          </p:cNvPr>
          <p:cNvSpPr>
            <a:spLocks noGrp="1"/>
          </p:cNvSpPr>
          <p:nvPr/>
        </p:nvSpPr>
        <p:spPr>
          <a:xfrm>
            <a:off x="7239000" y="161925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0E2D22"/>
          </a:solidFill>
          <a:ln w="0">
            <a:noFill/>
            <a:prstDash val="solid"/>
          </a:ln>
        </p:spPr>
        <p:txBody>
          <a:bodyPr wrap="square" lIns="0" tIns="0" rIns="0" bIns="0" anchor="ctr">
            <a:normAutofit fontScale="96807"/>
          </a:bodyPr>
          <a:lstStyle/>
          <a:p>
            <a:pPr algn="ctr"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18C1E42-09E4-4989-A0CD-EB5A60466FFE}"/>
              </a:ext>
            </a:extLst>
          </p:cNvPr>
          <p:cNvSpPr>
            <a:spLocks noGrp="1"/>
          </p:cNvSpPr>
          <p:nvPr/>
        </p:nvSpPr>
        <p:spPr>
          <a:xfrm>
            <a:off x="7867650" y="165735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문서 추가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016718D-3629-4C64-91AE-8163CBA3D1B6}"/>
              </a:ext>
            </a:extLst>
          </p:cNvPr>
          <p:cNvSpPr>
            <a:spLocks noGrp="1"/>
          </p:cNvSpPr>
          <p:nvPr/>
        </p:nvSpPr>
        <p:spPr>
          <a:xfrm>
            <a:off x="7867650" y="203835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MD·TXT·텍스트 PDF를 Markdown으로 변환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A7DD190-7C75-4EC1-81C4-748CFB31A481}"/>
              </a:ext>
            </a:extLst>
          </p:cNvPr>
          <p:cNvSpPr>
            <a:spLocks noGrp="1"/>
          </p:cNvSpPr>
          <p:nvPr/>
        </p:nvSpPr>
        <p:spPr>
          <a:xfrm>
            <a:off x="7239000" y="287655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0E2D22"/>
          </a:solidFill>
          <a:ln w="0">
            <a:noFill/>
            <a:prstDash val="solid"/>
          </a:ln>
        </p:spPr>
        <p:txBody>
          <a:bodyPr wrap="square" lIns="0" tIns="0" rIns="0" bIns="0" anchor="ctr">
            <a:normAutofit fontScale="96807"/>
          </a:bodyPr>
          <a:lstStyle/>
          <a:p>
            <a:pPr algn="ctr"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3BAB4D2-28D9-4617-AF16-DCAF4038F540}"/>
              </a:ext>
            </a:extLst>
          </p:cNvPr>
          <p:cNvSpPr>
            <a:spLocks noGrp="1"/>
          </p:cNvSpPr>
          <p:nvPr/>
        </p:nvSpPr>
        <p:spPr>
          <a:xfrm>
            <a:off x="7867650" y="291465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근거 검색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A8754BB-1DA3-47F8-8D40-CBE6095B0AD8}"/>
              </a:ext>
            </a:extLst>
          </p:cNvPr>
          <p:cNvSpPr>
            <a:spLocks noGrp="1"/>
          </p:cNvSpPr>
          <p:nvPr/>
        </p:nvSpPr>
        <p:spPr>
          <a:xfrm>
            <a:off x="7867650" y="329565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Wiki를 재색인하고 BM25로 관련 조각 조회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A4D53E1-634D-4FD2-87D5-44A1441851C6}"/>
              </a:ext>
            </a:extLst>
          </p:cNvPr>
          <p:cNvSpPr>
            <a:spLocks noGrp="1"/>
          </p:cNvSpPr>
          <p:nvPr/>
        </p:nvSpPr>
        <p:spPr>
          <a:xfrm>
            <a:off x="7239000" y="413385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62E0B0"/>
          </a:solidFill>
          <a:ln w="0">
            <a:noFill/>
            <a:prstDash val="solid"/>
          </a:ln>
        </p:spPr>
        <p:txBody>
          <a:bodyPr wrap="square" lIns="0" tIns="0" rIns="0" bIns="0" anchor="ctr">
            <a:normAutofit fontScale="96807"/>
          </a:bodyPr>
          <a:lstStyle/>
          <a:p>
            <a:pPr algn="ctr">
              <a:defRPr sz="2100" b="1">
                <a:solidFill>
                  <a:srgbClr val="071C1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71C15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8F22DE6-9E45-4AFE-BE62-2333B789A8DF}"/>
              </a:ext>
            </a:extLst>
          </p:cNvPr>
          <p:cNvSpPr>
            <a:spLocks noGrp="1"/>
          </p:cNvSpPr>
          <p:nvPr/>
        </p:nvSpPr>
        <p:spPr>
          <a:xfrm>
            <a:off x="7867650" y="417195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출처·검증 표시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2277F05-9241-479F-B5F2-38E747891ED1}"/>
              </a:ext>
            </a:extLst>
          </p:cNvPr>
          <p:cNvSpPr>
            <a:spLocks noGrp="1"/>
          </p:cNvSpPr>
          <p:nvPr/>
        </p:nvSpPr>
        <p:spPr>
          <a:xfrm>
            <a:off x="7867650" y="455295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금액·날짜·단위가 근거 원문에 있는지 확인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3F0F857-2088-42F7-AAC0-1EFB06F94A25}"/>
              </a:ext>
            </a:extLst>
          </p:cNvPr>
          <p:cNvSpPr>
            <a:spLocks noGrp="1"/>
          </p:cNvSpPr>
          <p:nvPr/>
        </p:nvSpPr>
        <p:spPr>
          <a:xfrm>
            <a:off x="7239000" y="5429250"/>
            <a:ext cx="4095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0E2D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E2D22"/>
                </a:solidFill>
                <a:latin typeface="Malgun Gothic"/>
                <a:ea typeface="Malgun Gothic"/>
                <a:cs typeface="Malgun Gothic"/>
              </a:rPr>
              <a:t>예시 결과  월 10만원 · 2026년 9월 30일 · 검증 통과</a:t>
            </a:r>
          </a:p>
        </p:txBody>
      </p:sp>
      <p:sp>
        <p:nvSpPr>
          <p:cNvPr id="15" name="직선 연결선 14">
            <a:extLst>
              <a:ext uri="{FF2B5EF4-FFF2-40B4-BE49-F238E27FC236}">
                <a16:creationId xmlns:a16="http://schemas.microsoft.com/office/drawing/2014/main" id="{8905FD8A-B1AC-4FF0-B5F1-A6DDB53E7E45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7C1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A187DFB-950B-4D35-8121-1D63D7C0B9AF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LLM-lab · 2차 세미나</a:t>
            </a:r>
          </a:p>
        </p:txBody>
      </p:sp>
    </p:spTree>
    <p:extLst>
      <p:ext uri="{BB962C8B-B14F-4D97-AF65-F5344CB8AC3E}">
        <p14:creationId xmlns:p14="http://schemas.microsoft.com/office/powerpoint/2010/main" val="495078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-8-title">
            <a:extLst>
              <a:ext uri="{FF2B5EF4-FFF2-40B4-BE49-F238E27FC236}">
                <a16:creationId xmlns:a16="http://schemas.microsoft.com/office/drawing/2014/main" id="{A0F6D537-D12C-4C81-9F20-8109D3C8222D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0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0.6B는 빠른 반복, 1.7B는 데모 품질에 적합했다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25173F9-31F7-4D45-99AA-9C9E55CA8676}"/>
              </a:ext>
            </a:extLst>
          </p:cNvPr>
          <p:cNvSpPr>
            <a:spLocks noGrp="1"/>
          </p:cNvSpPr>
          <p:nvPr/>
        </p:nvSpPr>
        <p:spPr>
          <a:xfrm>
            <a:off x="11239500" y="457200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1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="495300" y="1428750"/>
          <a:ext cx="6191250" cy="4095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66752FFB-08CE-412A-98CB-EB0C81A4F6C8}"/>
              </a:ext>
            </a:extLst>
          </p:cNvPr>
          <p:cNvSpPr>
            <a:spLocks noGrp="1"/>
          </p:cNvSpPr>
          <p:nvPr/>
        </p:nvSpPr>
        <p:spPr>
          <a:xfrm>
            <a:off x="7334250" y="1543050"/>
            <a:ext cx="76200" cy="1066800"/>
          </a:xfrm>
          <a:prstGeom prst="rect">
            <a:avLst/>
          </a:prstGeom>
          <a:solidFill>
            <a:srgbClr val="62E0B0"/>
          </a:solidFill>
          <a:ln w="0">
            <a:solidFill>
              <a:srgbClr val="62E0B0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782CC9D-AD5B-4671-AF4A-24305831A9DA}"/>
              </a:ext>
            </a:extLst>
          </p:cNvPr>
          <p:cNvSpPr>
            <a:spLocks noGrp="1"/>
          </p:cNvSpPr>
          <p:nvPr/>
        </p:nvSpPr>
        <p:spPr>
          <a:xfrm>
            <a:off x="7581900" y="1562100"/>
            <a:ext cx="3752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평균 응답시간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15C337C-E4D5-4029-A906-98477A5FF999}"/>
              </a:ext>
            </a:extLst>
          </p:cNvPr>
          <p:cNvSpPr>
            <a:spLocks noGrp="1"/>
          </p:cNvSpPr>
          <p:nvPr/>
        </p:nvSpPr>
        <p:spPr>
          <a:xfrm>
            <a:off x="7581900" y="1905000"/>
            <a:ext cx="37528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0.6B  2.814초</a:t>
            </a:r>
          </a:p>
          <a:p>
            <a:pPr algn="l"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1.7B  7.205초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06D60EC-0C73-420E-ABE6-66535E75D71D}"/>
              </a:ext>
            </a:extLst>
          </p:cNvPr>
          <p:cNvSpPr>
            <a:spLocks noGrp="1"/>
          </p:cNvSpPr>
          <p:nvPr/>
        </p:nvSpPr>
        <p:spPr>
          <a:xfrm>
            <a:off x="7334250" y="2952750"/>
            <a:ext cx="76200" cy="1066800"/>
          </a:xfrm>
          <a:prstGeom prst="rect">
            <a:avLst/>
          </a:prstGeom>
          <a:solidFill>
            <a:srgbClr val="62E0B0"/>
          </a:solidFill>
          <a:ln w="0">
            <a:solidFill>
              <a:srgbClr val="62E0B0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058D4D0-59A1-4A1D-BC83-2D9FE46F03F9}"/>
              </a:ext>
            </a:extLst>
          </p:cNvPr>
          <p:cNvSpPr>
            <a:spLocks noGrp="1"/>
          </p:cNvSpPr>
          <p:nvPr/>
        </p:nvSpPr>
        <p:spPr>
          <a:xfrm>
            <a:off x="7581900" y="2971800"/>
            <a:ext cx="3752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역할 분리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352307C-8B81-4258-9832-EA4F7345DEC7}"/>
              </a:ext>
            </a:extLst>
          </p:cNvPr>
          <p:cNvSpPr>
            <a:spLocks noGrp="1"/>
          </p:cNvSpPr>
          <p:nvPr/>
        </p:nvSpPr>
        <p:spPr>
          <a:xfrm>
            <a:off x="7581900" y="3314700"/>
            <a:ext cx="37528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0.6B  연결 확인·빠른 반복</a:t>
            </a:r>
          </a:p>
          <a:p>
            <a:pPr algn="l"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1.7B  사용자 데모·RAG 답변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3CFA411-4E15-4570-BD73-CF42E2733A01}"/>
              </a:ext>
            </a:extLst>
          </p:cNvPr>
          <p:cNvSpPr>
            <a:spLocks noGrp="1"/>
          </p:cNvSpPr>
          <p:nvPr/>
        </p:nvSpPr>
        <p:spPr>
          <a:xfrm>
            <a:off x="7334250" y="4362450"/>
            <a:ext cx="76200" cy="1066800"/>
          </a:xfrm>
          <a:prstGeom prst="rect">
            <a:avLst/>
          </a:prstGeom>
          <a:solidFill>
            <a:srgbClr val="F07F6A"/>
          </a:solidFill>
          <a:ln w="0">
            <a:solidFill>
              <a:srgbClr val="F07F6A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08DB370-B028-482B-BAC2-FA051B630143}"/>
              </a:ext>
            </a:extLst>
          </p:cNvPr>
          <p:cNvSpPr>
            <a:spLocks noGrp="1"/>
          </p:cNvSpPr>
          <p:nvPr/>
        </p:nvSpPr>
        <p:spPr>
          <a:xfrm>
            <a:off x="7581900" y="4381500"/>
            <a:ext cx="3752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품질 해석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CF82CA6-B033-4447-B3B0-4E040D27FE3A}"/>
              </a:ext>
            </a:extLst>
          </p:cNvPr>
          <p:cNvSpPr>
            <a:spLocks noGrp="1"/>
          </p:cNvSpPr>
          <p:nvPr/>
        </p:nvSpPr>
        <p:spPr>
          <a:xfrm>
            <a:off x="7581900" y="4724400"/>
            <a:ext cx="37528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자동점수는 같아도 사람 검토에서</a:t>
            </a:r>
          </a:p>
          <a:p>
            <a:pPr algn="l"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0.6B의 사실 오류가 더 자주 관찰됨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460C0C8-B8A8-4E66-904B-120A4E08691F}"/>
              </a:ext>
            </a:extLst>
          </p:cNvPr>
          <p:cNvSpPr>
            <a:spLocks noGrp="1"/>
          </p:cNvSpPr>
          <p:nvPr/>
        </p:nvSpPr>
        <p:spPr>
          <a:xfrm>
            <a:off x="685800" y="582930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성능 수치는 같은 PC·같은 Wiki·같은 문항에서 측정</a:t>
            </a:r>
          </a:p>
        </p:txBody>
      </p:sp>
      <p:sp>
        <p:nvSpPr>
          <p:cNvPr id="14" name="직선 연결선 13">
            <a:extLst>
              <a:ext uri="{FF2B5EF4-FFF2-40B4-BE49-F238E27FC236}">
                <a16:creationId xmlns:a16="http://schemas.microsoft.com/office/drawing/2014/main" id="{F741ED01-5392-4190-B513-34E0F1211F8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7C1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3E33F0B-494A-4E47-BC40-DABAB26202CF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LLM-lab · 2차 세미나</a:t>
            </a:r>
          </a:p>
        </p:txBody>
      </p:sp>
    </p:spTree>
    <p:extLst>
      <p:ext uri="{BB962C8B-B14F-4D97-AF65-F5344CB8AC3E}">
        <p14:creationId xmlns:p14="http://schemas.microsoft.com/office/powerpoint/2010/main" val="952974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-9-title">
            <a:extLst>
              <a:ext uri="{FF2B5EF4-FFF2-40B4-BE49-F238E27FC236}">
                <a16:creationId xmlns:a16="http://schemas.microsoft.com/office/drawing/2014/main" id="{A465FD37-A1D5-4891-A792-3C0F4558C9C9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0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실험 결과를 코드·문서·릴리스로 남겼다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5A8F836-8D21-43C3-9644-C2711E58CF90}"/>
              </a:ext>
            </a:extLst>
          </p:cNvPr>
          <p:cNvSpPr>
            <a:spLocks noGrp="1"/>
          </p:cNvSpPr>
          <p:nvPr/>
        </p:nvSpPr>
        <p:spPr>
          <a:xfrm>
            <a:off x="11239500" y="457200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1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63B1CD2-9AE5-40E9-A234-E6D318540F01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285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0E2D22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0E2D22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C3EA305-6CCE-46D5-AEDE-97EC94AB372C}"/>
              </a:ext>
            </a:extLst>
          </p:cNvPr>
          <p:cNvSpPr>
            <a:spLocks noGrp="1"/>
          </p:cNvSpPr>
          <p:nvPr/>
        </p:nvSpPr>
        <p:spPr>
          <a:xfrm>
            <a:off x="723900" y="23431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자동 테스트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B83350C-D29C-4BC6-9780-036880AE8B71}"/>
              </a:ext>
            </a:extLst>
          </p:cNvPr>
          <p:cNvSpPr>
            <a:spLocks noGrp="1"/>
          </p:cNvSpPr>
          <p:nvPr/>
        </p:nvSpPr>
        <p:spPr>
          <a:xfrm>
            <a:off x="723900" y="2705100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라우트·검색·업로드·검증 로직을 반복 확인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01BF963-05E4-4150-B361-242E4D8366C5}"/>
              </a:ext>
            </a:extLst>
          </p:cNvPr>
          <p:cNvSpPr>
            <a:spLocks noGrp="1"/>
          </p:cNvSpPr>
          <p:nvPr/>
        </p:nvSpPr>
        <p:spPr>
          <a:xfrm>
            <a:off x="4667250" y="1600200"/>
            <a:ext cx="285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0E2D22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0E2D22"/>
                </a:solidFill>
                <a:latin typeface="Malgun Gothic"/>
                <a:ea typeface="Malgun Gothic"/>
                <a:cs typeface="Malgun Gothic"/>
              </a:rPr>
              <a:t>52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2634C01-8A9F-4191-82D1-8AC47B6E51E5}"/>
              </a:ext>
            </a:extLst>
          </p:cNvPr>
          <p:cNvSpPr>
            <a:spLocks noGrp="1"/>
          </p:cNvSpPr>
          <p:nvPr/>
        </p:nvSpPr>
        <p:spPr>
          <a:xfrm>
            <a:off x="4667250" y="23431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공개 파일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20DE97A-FA80-480D-B2D9-C6342C1F1D5C}"/>
              </a:ext>
            </a:extLst>
          </p:cNvPr>
          <p:cNvSpPr>
            <a:spLocks noGrp="1"/>
          </p:cNvSpPr>
          <p:nvPr/>
        </p:nvSpPr>
        <p:spPr>
          <a:xfrm>
            <a:off x="4667250" y="2705100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코드, 테스트, README, docs, Wiki 원본 포함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35BC01D-3DB6-42B3-837B-1B00F9A34A29}"/>
              </a:ext>
            </a:extLst>
          </p:cNvPr>
          <p:cNvSpPr>
            <a:spLocks noGrp="1"/>
          </p:cNvSpPr>
          <p:nvPr/>
        </p:nvSpPr>
        <p:spPr>
          <a:xfrm>
            <a:off x="8610600" y="1600200"/>
            <a:ext cx="285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0E2D22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0E2D22"/>
                </a:solidFill>
                <a:latin typeface="Malgun Gothic"/>
                <a:ea typeface="Malgun Gothic"/>
                <a:cs typeface="Malgun Gothic"/>
              </a:rPr>
              <a:t>v0.1.0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0C49064-A935-4F58-B7C4-CE93CB03EED8}"/>
              </a:ext>
            </a:extLst>
          </p:cNvPr>
          <p:cNvSpPr>
            <a:spLocks noGrp="1"/>
          </p:cNvSpPr>
          <p:nvPr/>
        </p:nvSpPr>
        <p:spPr>
          <a:xfrm>
            <a:off x="8610600" y="23431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GitHub Release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9F10DCC-1BF3-4AEC-BC89-2BDC949C38B8}"/>
              </a:ext>
            </a:extLst>
          </p:cNvPr>
          <p:cNvSpPr>
            <a:spLocks noGrp="1"/>
          </p:cNvSpPr>
          <p:nvPr/>
        </p:nvSpPr>
        <p:spPr>
          <a:xfrm>
            <a:off x="8610600" y="2705100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태그와 변경 요약을 가진 첫 공개 마일스톤</a:t>
            </a:r>
          </a:p>
        </p:txBody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67C4EE9A-E048-41B0-9C24-C2B49EC8A77E}"/>
              </a:ext>
            </a:extLst>
          </p:cNvPr>
          <p:cNvSpPr>
            <a:spLocks noGrp="1"/>
          </p:cNvSpPr>
          <p:nvPr/>
        </p:nvSpPr>
        <p:spPr>
          <a:xfrm>
            <a:off x="723900" y="3829050"/>
            <a:ext cx="10744200" cy="0"/>
          </a:xfrm>
          <a:prstGeom prst="line">
            <a:avLst/>
          </a:prstGeom>
          <a:noFill/>
          <a:ln w="9525">
            <a:solidFill>
              <a:srgbClr val="B9C7C1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4BA0C6F-0B6B-4C37-817A-80652A3BCCA5}"/>
              </a:ext>
            </a:extLst>
          </p:cNvPr>
          <p:cNvSpPr>
            <a:spLocks noGrp="1"/>
          </p:cNvSpPr>
          <p:nvPr/>
        </p:nvSpPr>
        <p:spPr>
          <a:xfrm>
            <a:off x="723900" y="42481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문서 체계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C0B13D4-5BE8-45CC-BB44-AB291EF494E6}"/>
              </a:ext>
            </a:extLst>
          </p:cNvPr>
          <p:cNvSpPr>
            <a:spLocks noGrp="1"/>
          </p:cNvSpPr>
          <p:nvPr/>
        </p:nvSpPr>
        <p:spPr>
          <a:xfrm>
            <a:off x="2571750" y="4248150"/>
            <a:ext cx="876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README · 설치 · 아키텍처 · API · 실험 결과 · 보안 · 문제 해결 · 로드맵 · 변경 이력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E8E6F3B-6A46-4CBF-B381-B9902F53B6BA}"/>
              </a:ext>
            </a:extLst>
          </p:cNvPr>
          <p:cNvSpPr>
            <a:spLocks noGrp="1"/>
          </p:cNvSpPr>
          <p:nvPr/>
        </p:nvSpPr>
        <p:spPr>
          <a:xfrm>
            <a:off x="723900" y="491490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개인정보 보호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272572-A168-4C48-BAF1-53A7B2D5EFD0}"/>
              </a:ext>
            </a:extLst>
          </p:cNvPr>
          <p:cNvSpPr>
            <a:spLocks noGrp="1"/>
          </p:cNvSpPr>
          <p:nvPr/>
        </p:nvSpPr>
        <p:spPr>
          <a:xfrm>
            <a:off x="2571750" y="4914900"/>
            <a:ext cx="876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실제 업로드 문서, .venv, 벤치마크 원본은 Git에서 제외하고 가상 샘플만 공개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E5D5125-9970-4E67-B76C-D93313209B93}"/>
              </a:ext>
            </a:extLst>
          </p:cNvPr>
          <p:cNvSpPr>
            <a:spLocks noGrp="1"/>
          </p:cNvSpPr>
          <p:nvPr/>
        </p:nvSpPr>
        <p:spPr>
          <a:xfrm>
            <a:off x="723900" y="5772150"/>
            <a:ext cx="10744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0E2D2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E2D22"/>
                </a:solidFill>
                <a:latin typeface="Malgun Gothic"/>
                <a:ea typeface="Malgun Gothic"/>
                <a:cs typeface="Malgun Gothic"/>
              </a:rPr>
              <a:t>github.com/jihun18/LLM-lab</a:t>
            </a:r>
          </a:p>
        </p:txBody>
      </p:sp>
      <p:sp>
        <p:nvSpPr>
          <p:cNvPr id="18" name="직선 연결선 17">
            <a:extLst>
              <a:ext uri="{FF2B5EF4-FFF2-40B4-BE49-F238E27FC236}">
                <a16:creationId xmlns:a16="http://schemas.microsoft.com/office/drawing/2014/main" id="{4C21AE85-DDEE-4F21-9668-8B138645EA14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7C1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445E8EA-0391-424F-AB31-FF7990C57B52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LLM-lab · 2차 세미나</a:t>
            </a:r>
          </a:p>
        </p:txBody>
      </p:sp>
    </p:spTree>
    <p:extLst>
      <p:ext uri="{BB962C8B-B14F-4D97-AF65-F5344CB8AC3E}">
        <p14:creationId xmlns:p14="http://schemas.microsoft.com/office/powerpoint/2010/main" val="1941683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C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-10-title">
            <a:extLst>
              <a:ext uri="{FF2B5EF4-FFF2-40B4-BE49-F238E27FC236}">
                <a16:creationId xmlns:a16="http://schemas.microsoft.com/office/drawing/2014/main" id="{95707CBA-E676-4A13-82E8-061ED5B64B4D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다음 단계는 ‘공모전 문제’에 맞춘 재구성이다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A424EE3-3311-4A9B-B74E-9A24E6F72DE3}"/>
              </a:ext>
            </a:extLst>
          </p:cNvPr>
          <p:cNvSpPr>
            <a:spLocks noGrp="1"/>
          </p:cNvSpPr>
          <p:nvPr/>
        </p:nvSpPr>
        <p:spPr>
          <a:xfrm>
            <a:off x="11239500" y="457200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1">
                <a:solidFill>
                  <a:srgbClr val="62E0B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2E0B0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DDE64A9-3E21-4616-B322-FE7DD5851CF0}"/>
              </a:ext>
            </a:extLst>
          </p:cNvPr>
          <p:cNvSpPr>
            <a:spLocks noGrp="1"/>
          </p:cNvSpPr>
          <p:nvPr/>
        </p:nvSpPr>
        <p:spPr>
          <a:xfrm>
            <a:off x="723900" y="1428750"/>
            <a:ext cx="704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62E0B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62E0B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11D1552-21CD-4EA4-9046-F2737D77F9F2}"/>
              </a:ext>
            </a:extLst>
          </p:cNvPr>
          <p:cNvSpPr>
            <a:spLocks noGrp="1"/>
          </p:cNvSpPr>
          <p:nvPr/>
        </p:nvSpPr>
        <p:spPr>
          <a:xfrm>
            <a:off x="1638300" y="1428750"/>
            <a:ext cx="247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공모전 탐색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9396A7E-3C2D-4624-9F75-AFF5C9ECA481}"/>
              </a:ext>
            </a:extLst>
          </p:cNvPr>
          <p:cNvSpPr>
            <a:spLocks noGrp="1"/>
          </p:cNvSpPr>
          <p:nvPr/>
        </p:nvSpPr>
        <p:spPr>
          <a:xfrm>
            <a:off x="4305300" y="1447800"/>
            <a:ext cx="701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B8F2D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B8F2DB"/>
                </a:solidFill>
                <a:latin typeface="Malgun Gothic"/>
                <a:ea typeface="Malgun Gothic"/>
                <a:cs typeface="Malgun Gothic"/>
              </a:rPr>
              <a:t>주제·평가기준·제출 형식·마감일을 비교한다.</a:t>
            </a:r>
          </a:p>
        </p:txBody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472C3C96-B8C6-4AB0-A031-0E2E5B4952FE}"/>
              </a:ext>
            </a:extLst>
          </p:cNvPr>
          <p:cNvSpPr>
            <a:spLocks noGrp="1"/>
          </p:cNvSpPr>
          <p:nvPr/>
        </p:nvSpPr>
        <p:spPr>
          <a:xfrm>
            <a:off x="723900" y="2152650"/>
            <a:ext cx="10591800" cy="0"/>
          </a:xfrm>
          <a:prstGeom prst="line">
            <a:avLst/>
          </a:prstGeom>
          <a:noFill/>
          <a:ln w="9525">
            <a:solidFill>
              <a:srgbClr val="285345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53E80CD-D063-48DE-B55C-63B7F3CE4AA6}"/>
              </a:ext>
            </a:extLst>
          </p:cNvPr>
          <p:cNvSpPr>
            <a:spLocks noGrp="1"/>
          </p:cNvSpPr>
          <p:nvPr/>
        </p:nvSpPr>
        <p:spPr>
          <a:xfrm>
            <a:off x="723900" y="2419350"/>
            <a:ext cx="704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62E0B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62E0B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C768B96-59EE-4FF1-B642-9633E6F87955}"/>
              </a:ext>
            </a:extLst>
          </p:cNvPr>
          <p:cNvSpPr>
            <a:spLocks noGrp="1"/>
          </p:cNvSpPr>
          <p:nvPr/>
        </p:nvSpPr>
        <p:spPr>
          <a:xfrm>
            <a:off x="1638300" y="2419350"/>
            <a:ext cx="247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문제 정의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A155CCD-C635-46BE-94B9-4071DD43643E}"/>
              </a:ext>
            </a:extLst>
          </p:cNvPr>
          <p:cNvSpPr>
            <a:spLocks noGrp="1"/>
          </p:cNvSpPr>
          <p:nvPr/>
        </p:nvSpPr>
        <p:spPr>
          <a:xfrm>
            <a:off x="4305300" y="2438400"/>
            <a:ext cx="701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B8F2D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B8F2DB"/>
                </a:solidFill>
                <a:latin typeface="Malgun Gothic"/>
                <a:ea typeface="Malgun Gothic"/>
                <a:cs typeface="Malgun Gothic"/>
              </a:rPr>
              <a:t>privAI가 해결할 사용자 문제와 차별점을 한 문장으로 정한다.</a:t>
            </a:r>
          </a:p>
        </p:txBody>
      </p:sp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3143E146-D42F-44BB-AD79-14E9A6BA714C}"/>
              </a:ext>
            </a:extLst>
          </p:cNvPr>
          <p:cNvSpPr>
            <a:spLocks noGrp="1"/>
          </p:cNvSpPr>
          <p:nvPr/>
        </p:nvSpPr>
        <p:spPr>
          <a:xfrm>
            <a:off x="723900" y="3143250"/>
            <a:ext cx="10591800" cy="0"/>
          </a:xfrm>
          <a:prstGeom prst="line">
            <a:avLst/>
          </a:prstGeom>
          <a:noFill/>
          <a:ln w="9525">
            <a:solidFill>
              <a:srgbClr val="285345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30FAF71-3D43-46DD-B579-E8CB18660EC9}"/>
              </a:ext>
            </a:extLst>
          </p:cNvPr>
          <p:cNvSpPr>
            <a:spLocks noGrp="1"/>
          </p:cNvSpPr>
          <p:nvPr/>
        </p:nvSpPr>
        <p:spPr>
          <a:xfrm>
            <a:off x="723900" y="3409950"/>
            <a:ext cx="704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62E0B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62E0B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0C8992E-B60D-478F-9DAF-71998BEA121B}"/>
              </a:ext>
            </a:extLst>
          </p:cNvPr>
          <p:cNvSpPr>
            <a:spLocks noGrp="1"/>
          </p:cNvSpPr>
          <p:nvPr/>
        </p:nvSpPr>
        <p:spPr>
          <a:xfrm>
            <a:off x="1638300" y="3409950"/>
            <a:ext cx="247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기술 개선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26878AB-F3F7-4EDA-8A58-14402CE796BA}"/>
              </a:ext>
            </a:extLst>
          </p:cNvPr>
          <p:cNvSpPr>
            <a:spLocks noGrp="1"/>
          </p:cNvSpPr>
          <p:nvPr/>
        </p:nvSpPr>
        <p:spPr>
          <a:xfrm>
            <a:off x="4305300" y="3429000"/>
            <a:ext cx="701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B8F2D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B8F2DB"/>
                </a:solidFill>
                <a:latin typeface="Malgun Gothic"/>
                <a:ea typeface="Malgun Gothic"/>
                <a:cs typeface="Malgun Gothic"/>
              </a:rPr>
              <a:t>BM25 평가, 경량 임베딩, OCR·재현성 중 필요한 것만 선택한다.</a:t>
            </a:r>
          </a:p>
        </p:txBody>
      </p:sp>
      <p:sp>
        <p:nvSpPr>
          <p:cNvPr id="14" name="직선 연결선 13">
            <a:extLst>
              <a:ext uri="{FF2B5EF4-FFF2-40B4-BE49-F238E27FC236}">
                <a16:creationId xmlns:a16="http://schemas.microsoft.com/office/drawing/2014/main" id="{E32B8843-FB3C-4D8B-AB5F-5F8E9C417992}"/>
              </a:ext>
            </a:extLst>
          </p:cNvPr>
          <p:cNvSpPr>
            <a:spLocks noGrp="1"/>
          </p:cNvSpPr>
          <p:nvPr/>
        </p:nvSpPr>
        <p:spPr>
          <a:xfrm>
            <a:off x="723900" y="4133850"/>
            <a:ext cx="10591800" cy="0"/>
          </a:xfrm>
          <a:prstGeom prst="line">
            <a:avLst/>
          </a:prstGeom>
          <a:noFill/>
          <a:ln w="9525">
            <a:solidFill>
              <a:srgbClr val="285345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4F2C075-B4AB-4FBF-8515-7F6123031A36}"/>
              </a:ext>
            </a:extLst>
          </p:cNvPr>
          <p:cNvSpPr>
            <a:spLocks noGrp="1"/>
          </p:cNvSpPr>
          <p:nvPr/>
        </p:nvSpPr>
        <p:spPr>
          <a:xfrm>
            <a:off x="723900" y="4400550"/>
            <a:ext cx="704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62E0B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62E0B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643E3FA-C5D0-46DE-8092-6E80B62A934A}"/>
              </a:ext>
            </a:extLst>
          </p:cNvPr>
          <p:cNvSpPr>
            <a:spLocks noGrp="1"/>
          </p:cNvSpPr>
          <p:nvPr/>
        </p:nvSpPr>
        <p:spPr>
          <a:xfrm>
            <a:off x="1638300" y="4400550"/>
            <a:ext cx="247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데모와 제안서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D2A7E44-F797-4BDF-928E-FAC50F066B56}"/>
              </a:ext>
            </a:extLst>
          </p:cNvPr>
          <p:cNvSpPr>
            <a:spLocks noGrp="1"/>
          </p:cNvSpPr>
          <p:nvPr/>
        </p:nvSpPr>
        <p:spPr>
          <a:xfrm>
            <a:off x="4305300" y="4419600"/>
            <a:ext cx="701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B8F2D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B8F2DB"/>
                </a:solidFill>
                <a:latin typeface="Malgun Gothic"/>
                <a:ea typeface="Malgun Gothic"/>
                <a:cs typeface="Malgun Gothic"/>
              </a:rPr>
              <a:t>측정 가능한 지표와 실제 시나리오 중심으로 발표를 재구성한다.</a:t>
            </a:r>
          </a:p>
        </p:txBody>
      </p:sp>
      <p:sp>
        <p:nvSpPr>
          <p:cNvPr id="18" name="직선 연결선 17">
            <a:extLst>
              <a:ext uri="{FF2B5EF4-FFF2-40B4-BE49-F238E27FC236}">
                <a16:creationId xmlns:a16="http://schemas.microsoft.com/office/drawing/2014/main" id="{DED1F94D-71F8-4BF6-A07F-E2691F9EBBBE}"/>
              </a:ext>
            </a:extLst>
          </p:cNvPr>
          <p:cNvSpPr>
            <a:spLocks noGrp="1"/>
          </p:cNvSpPr>
          <p:nvPr/>
        </p:nvSpPr>
        <p:spPr>
          <a:xfrm>
            <a:off x="723900" y="5124450"/>
            <a:ext cx="10591800" cy="0"/>
          </a:xfrm>
          <a:prstGeom prst="line">
            <a:avLst/>
          </a:prstGeom>
          <a:noFill/>
          <a:ln w="9525">
            <a:solidFill>
              <a:srgbClr val="285345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3E45D50-F4BD-42F6-87D4-1A95E80F3849}"/>
              </a:ext>
            </a:extLst>
          </p:cNvPr>
          <p:cNvSpPr>
            <a:spLocks noGrp="1"/>
          </p:cNvSpPr>
          <p:nvPr/>
        </p:nvSpPr>
        <p:spPr>
          <a:xfrm>
            <a:off x="1143000" y="5619750"/>
            <a:ext cx="990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작게 실행하고, 근거로 검증하고, 문서로 축적한다.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70A02D5-4FE2-4A0E-87E6-E5E62ACAC160}"/>
              </a:ext>
            </a:extLst>
          </p:cNvPr>
          <p:cNvSpPr>
            <a:spLocks noGrp="1"/>
          </p:cNvSpPr>
          <p:nvPr/>
        </p:nvSpPr>
        <p:spPr>
          <a:xfrm>
            <a:off x="2190750" y="6210300"/>
            <a:ext cx="781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0">
                <a:solidFill>
                  <a:srgbClr val="62E0B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2E0B0"/>
                </a:solidFill>
                <a:latin typeface="Malgun Gothic"/>
                <a:ea typeface="Malgun Gothic"/>
                <a:cs typeface="Malgun Gothic"/>
              </a:rPr>
              <a:t>이 반복 가능한 기반을 공모전 요구사항에 맞춰 변환한다.</a:t>
            </a:r>
          </a:p>
        </p:txBody>
      </p:sp>
    </p:spTree>
    <p:extLst>
      <p:ext uri="{BB962C8B-B14F-4D97-AF65-F5344CB8AC3E}">
        <p14:creationId xmlns:p14="http://schemas.microsoft.com/office/powerpoint/2010/main" val="134735851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1180</Words>
  <Application>Microsoft Office PowerPoint</Application>
  <DocSecurity>0</DocSecurity>
  <PresentationFormat>와이드스크린</PresentationFormat>
  <Paragraphs>240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Malgun Gothic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Ji Hun JEON</cp:lastModifiedBy>
  <cp:revision>1</cp:revision>
  <dcterms:created xsi:type="dcterms:W3CDTF">2026-08-18T00:35:34Z</dcterms:created>
  <dcterms:modified xsi:type="dcterms:W3CDTF">2026-08-18T00:39:13Z</dcterms:modified>
</cp:coreProperties>
</file>